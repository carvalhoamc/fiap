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286000"/>
            <a:ext cx="4206240" cy="2286000"/>
          </a:xfrm>
          <a:prstGeom prst="roundRect">
            <a:avLst>
              <a:gd name="adj" fmla="val 6400"/>
            </a:avLst>
          </a:prstGeom>
          <a:solidFill>
            <a:srgbClr val="3D2A5C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2788920"/>
            <a:ext cx="777240" cy="777240"/>
          </a:xfrm>
          <a:prstGeom prst="ellipse">
            <a:avLst/>
          </a:prstGeom>
          <a:solidFill>
            <a:srgbClr val="E0871F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2788920"/>
            <a:ext cx="777240" cy="777240"/>
          </a:xfrm>
          <a:prstGeom prst="ellipse">
            <a:avLst/>
          </a:prstGeom>
          <a:solidFill>
            <a:srgbClr val="9B6DD6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2788920"/>
            <a:ext cx="777240" cy="77724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Cₜ₋₁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32461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3172968"/>
            <a:ext cx="-548640" cy="0"/>
          </a:xfrm>
          <a:prstGeom prst="line">
            <a:avLst/>
          </a:prstGeom>
          <a:noFill/>
          <a:ln w="25400">
            <a:solidFill>
              <a:srgbClr val="9B6DD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521440" y="3172968"/>
            <a:ext cx="502920" cy="0"/>
          </a:xfrm>
          <a:prstGeom prst="line">
            <a:avLst/>
          </a:prstGeom>
          <a:noFill/>
          <a:ln w="2540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818120" y="2926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926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0" y="2926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4617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memória + portões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453896"/>
            <a:ext cx="475488" cy="47548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77240" y="23317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LSTM</a:t>
            </a:r>
            <a:endParaRPr lang="en-US" sz="58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429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9776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rede neural aprende a lembrar do que importa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257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para iniciantes</a:t>
            </a:r>
            <a:pPr algn="l" indent="0" marL="0">
              <a:buNone/>
            </a:pPr>
            <a:r>
              <a:rPr lang="en-US" sz="13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Projeto: análise de sentimentos de reclamações (SAC)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VER HOJE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911096"/>
            <a:ext cx="786384" cy="786384"/>
          </a:xfrm>
          <a:prstGeom prst="ellipse">
            <a:avLst/>
          </a:prstGeom>
          <a:solidFill>
            <a:srgbClr val="E0871F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04" y="2099828"/>
            <a:ext cx="408920" cy="408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196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O problema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22199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“contar palavras” não entende “não é bom”.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336792" y="16002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92824" y="1911096"/>
            <a:ext cx="786384" cy="786384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556" y="2099828"/>
            <a:ext cx="408920" cy="408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71232" y="18196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RNN e seu limite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7571232" y="222199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em ordem, mas esquecer o começo (gradiente que some).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273552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04672" y="3584448"/>
            <a:ext cx="786384" cy="786384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04" y="3773180"/>
            <a:ext cx="408920" cy="408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83080" y="34930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 ideia da LSTM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783080" y="389534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memória com portões que decidem o que guardar.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336792" y="3273552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92824" y="3584448"/>
            <a:ext cx="786384" cy="786384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556" y="3773180"/>
            <a:ext cx="408920" cy="4089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571232" y="34930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Os três portões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571232" y="389534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esquecimento e saída — as “válvulas” da rede.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4946904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04672" y="5257800"/>
            <a:ext cx="786384" cy="786384"/>
          </a:xfrm>
          <a:prstGeom prst="ellipse">
            <a:avLst/>
          </a:prstGeom>
          <a:solidFill>
            <a:srgbClr val="9B6DD6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404" y="5446532"/>
            <a:ext cx="408920" cy="4089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783080" y="51663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Bidirecional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1783080" y="556869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frase nos dois sentidos para captar o contexto.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336792" y="4946904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592824" y="5257800"/>
            <a:ext cx="786384" cy="786384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556" y="5446532"/>
            <a:ext cx="408920" cy="4089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571232" y="51663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O projeto ponta a ponta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7571232" y="556869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uma reclamação crua até “Negativo / Neutro / Positivo”.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palavra, sentido oposto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011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produto é bom”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“bom” → parece elogio ✓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46520" y="173736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2011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CF435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6656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2651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produto NÃO é bom”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tem “bom”… mas é reclamação!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63840" y="2633472"/>
            <a:ext cx="1234440" cy="658368"/>
          </a:xfrm>
          <a:prstGeom prst="ellipse">
            <a:avLst/>
          </a:prstGeom>
          <a:ln w="31750">
            <a:solidFill>
              <a:srgbClr val="E0871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160520"/>
            <a:ext cx="11109960" cy="1691640"/>
          </a:xfrm>
          <a:prstGeom prst="roundRect">
            <a:avLst>
              <a:gd name="adj" fmla="val 6486"/>
            </a:avLst>
          </a:prstGeom>
          <a:solidFill>
            <a:srgbClr val="2A1B3D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480560"/>
            <a:ext cx="960120" cy="960120"/>
          </a:xfrm>
          <a:prstGeom prst="ellipse">
            <a:avLst/>
          </a:prstGeom>
          <a:solidFill>
            <a:srgbClr val="E0871F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9" y="4710989"/>
            <a:ext cx="499262" cy="49926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057400" y="43708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é a ordem e o contexto das palavras.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2057400" y="484632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que só conta palavras isoladas erra feio: ele não enxerga o “não” que inverte tudo. Precisamos de um modelo que leia a frase palavra por palavra, na ordem, e carregue uma memória do que já leu.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TENTATIVA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RNN: ler em ordem carregando um estado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recorrente (RNN) processa a frase um passo por vez, passando adiante um estado oculto H — um “resumo” do que já foi lido até ali.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9260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30358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14400" y="42062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BE7C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06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531620" y="4206240"/>
            <a:ext cx="0" cy="-228600"/>
          </a:xfrm>
          <a:prstGeom prst="line">
            <a:avLst/>
          </a:prstGeom>
          <a:noFill/>
          <a:ln w="19050">
            <a:solidFill>
              <a:srgbClr val="6E658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240280" y="3447288"/>
            <a:ext cx="640080" cy="0"/>
          </a:xfrm>
          <a:prstGeom prst="line">
            <a:avLst/>
          </a:prstGeom>
          <a:noFill/>
          <a:ln w="317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80360" y="29260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880360" y="30358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880360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971800" y="42062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BE7C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971800" y="4206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“produto”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589020" y="4206240"/>
            <a:ext cx="0" cy="-228600"/>
          </a:xfrm>
          <a:prstGeom prst="line">
            <a:avLst/>
          </a:prstGeom>
          <a:noFill/>
          <a:ln w="19050">
            <a:solidFill>
              <a:srgbClr val="6E658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297680" y="3447288"/>
            <a:ext cx="640080" cy="0"/>
          </a:xfrm>
          <a:prstGeom prst="line">
            <a:avLst/>
          </a:prstGeom>
          <a:noFill/>
          <a:ln w="317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937760" y="29260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937760" y="30358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029200" y="42062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BE7C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0" y="4206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“não”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46420" y="4206240"/>
            <a:ext cx="0" cy="-228600"/>
          </a:xfrm>
          <a:prstGeom prst="line">
            <a:avLst/>
          </a:prstGeom>
          <a:noFill/>
          <a:ln w="19050">
            <a:solidFill>
              <a:srgbClr val="6E658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355080" y="3447288"/>
            <a:ext cx="640080" cy="0"/>
          </a:xfrm>
          <a:prstGeom prst="line">
            <a:avLst/>
          </a:prstGeom>
          <a:noFill/>
          <a:ln w="317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995160" y="29260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995160" y="30358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995160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7086600" y="42062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BE7C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086600" y="4206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“é”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703820" y="4206240"/>
            <a:ext cx="0" cy="-228600"/>
          </a:xfrm>
          <a:prstGeom prst="line">
            <a:avLst/>
          </a:prstGeom>
          <a:noFill/>
          <a:ln w="19050">
            <a:solidFill>
              <a:srgbClr val="6E6580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412480" y="3447288"/>
            <a:ext cx="640080" cy="0"/>
          </a:xfrm>
          <a:prstGeom prst="line">
            <a:avLst/>
          </a:prstGeom>
          <a:noFill/>
          <a:ln w="317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052560" y="2926080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9052560" y="30358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052560" y="3337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9144000" y="42062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BE7C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144000" y="4206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“bom”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9761220" y="4206240"/>
            <a:ext cx="0" cy="-228600"/>
          </a:xfrm>
          <a:prstGeom prst="line">
            <a:avLst/>
          </a:prstGeom>
          <a:noFill/>
          <a:ln w="19050">
            <a:solidFill>
              <a:srgbClr val="6E6580"/>
            </a:solidFill>
            <a:prstDash val="solid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82296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o “resumo” H adiante  →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8640" y="5074920"/>
            <a:ext cx="11109960" cy="868680"/>
          </a:xfrm>
          <a:prstGeom prst="roundRect">
            <a:avLst>
              <a:gd name="adj" fmla="val 1263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822960" y="5193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ideia, mas… </a:t>
            </a:r>
            <a:pPr indent="0" marL="0">
              <a:buNone/>
            </a:pPr>
            <a:r>
              <a:rPr lang="en-US" sz="14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frase fica longa, a RNN simples “esquece” o começo. Por quê? Vamos ao próximo slide.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CALCANHAR DE AQUILES DA RNN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que desaparece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aprender, o erro é propagado de volta por todos os passos de tempo. A cada passo ele é multiplicado — e multiplicar muitas vezes tem duas saídas ruins: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F9DBE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4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Desaparece (vanishing)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88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gradiente encolhe até ≈ 0. A rede não consegue mais ajustar o começo da frase — na prática, esquece o “não” lá do início.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219456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FBE7CE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83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Explode (exploding)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788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gradiente cresce sem controle. Os pesos disparam e o treino fica instável, cheio de saltos e valores enormes.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11109960" cy="1737360"/>
          </a:xfrm>
          <a:prstGeom prst="roundRect">
            <a:avLst>
              <a:gd name="adj" fmla="val 6316"/>
            </a:avLst>
          </a:prstGeom>
          <a:solidFill>
            <a:srgbClr val="2A1B3D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4279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0,5 repetidamente, passo após passo: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4645152"/>
            <a:ext cx="566928" cy="859536"/>
          </a:xfrm>
          <a:prstGeom prst="roundRect">
            <a:avLst>
              <a:gd name="adj" fmla="val 4839"/>
            </a:avLst>
          </a:prstGeom>
          <a:solidFill>
            <a:srgbClr val="9B6DD6"/>
          </a:solidFill>
          <a:ln/>
        </p:spPr>
      </p:sp>
      <p:sp>
        <p:nvSpPr>
          <p:cNvPr id="15" name="Shape 12"/>
          <p:cNvSpPr/>
          <p:nvPr/>
        </p:nvSpPr>
        <p:spPr>
          <a:xfrm>
            <a:off x="1691640" y="4882896"/>
            <a:ext cx="566928" cy="621792"/>
          </a:xfrm>
          <a:prstGeom prst="roundRect">
            <a:avLst>
              <a:gd name="adj" fmla="val 4839"/>
            </a:avLst>
          </a:prstGeom>
          <a:solidFill>
            <a:srgbClr val="9B6DD6"/>
          </a:solidFill>
          <a:ln/>
        </p:spPr>
      </p:sp>
      <p:sp>
        <p:nvSpPr>
          <p:cNvPr id="16" name="Shape 13"/>
          <p:cNvSpPr/>
          <p:nvPr/>
        </p:nvSpPr>
        <p:spPr>
          <a:xfrm>
            <a:off x="2514600" y="5065776"/>
            <a:ext cx="566928" cy="438912"/>
          </a:xfrm>
          <a:prstGeom prst="roundRect">
            <a:avLst>
              <a:gd name="adj" fmla="val 6250"/>
            </a:avLst>
          </a:prstGeom>
          <a:solidFill>
            <a:srgbClr val="6B3FA0"/>
          </a:solidFill>
          <a:ln/>
        </p:spPr>
      </p:sp>
      <p:sp>
        <p:nvSpPr>
          <p:cNvPr id="17" name="Shape 14"/>
          <p:cNvSpPr/>
          <p:nvPr/>
        </p:nvSpPr>
        <p:spPr>
          <a:xfrm>
            <a:off x="3337560" y="5202936"/>
            <a:ext cx="566928" cy="301752"/>
          </a:xfrm>
          <a:prstGeom prst="roundRect">
            <a:avLst>
              <a:gd name="adj" fmla="val 9091"/>
            </a:avLst>
          </a:prstGeom>
          <a:solidFill>
            <a:srgbClr val="6B3FA0"/>
          </a:solidFill>
          <a:ln/>
        </p:spPr>
      </p:sp>
      <p:sp>
        <p:nvSpPr>
          <p:cNvPr id="18" name="Shape 15"/>
          <p:cNvSpPr/>
          <p:nvPr/>
        </p:nvSpPr>
        <p:spPr>
          <a:xfrm>
            <a:off x="4160520" y="5303520"/>
            <a:ext cx="566928" cy="201168"/>
          </a:xfrm>
          <a:prstGeom prst="roundRect">
            <a:avLst>
              <a:gd name="adj" fmla="val 13636"/>
            </a:avLst>
          </a:prstGeom>
          <a:solidFill>
            <a:srgbClr val="6B3FA0"/>
          </a:solidFill>
          <a:ln/>
        </p:spPr>
      </p:sp>
      <p:sp>
        <p:nvSpPr>
          <p:cNvPr id="19" name="Shape 16"/>
          <p:cNvSpPr/>
          <p:nvPr/>
        </p:nvSpPr>
        <p:spPr>
          <a:xfrm>
            <a:off x="4983480" y="5385816"/>
            <a:ext cx="566928" cy="118872"/>
          </a:xfrm>
          <a:prstGeom prst="roundRect">
            <a:avLst>
              <a:gd name="adj" fmla="val 23077"/>
            </a:avLst>
          </a:prstGeom>
          <a:solidFill>
            <a:srgbClr val="6B3FA0"/>
          </a:solidFill>
          <a:ln/>
        </p:spPr>
      </p:sp>
      <p:sp>
        <p:nvSpPr>
          <p:cNvPr id="20" name="Shape 17"/>
          <p:cNvSpPr/>
          <p:nvPr/>
        </p:nvSpPr>
        <p:spPr>
          <a:xfrm>
            <a:off x="5806440" y="5440680"/>
            <a:ext cx="566928" cy="64008"/>
          </a:xfrm>
          <a:prstGeom prst="roundRect">
            <a:avLst>
              <a:gd name="adj" fmla="val 42857"/>
            </a:avLst>
          </a:prstGeom>
          <a:solidFill>
            <a:srgbClr val="6B3FA0"/>
          </a:solidFill>
          <a:ln/>
        </p:spPr>
      </p:sp>
      <p:sp>
        <p:nvSpPr>
          <p:cNvPr id="21" name="Shape 18"/>
          <p:cNvSpPr/>
          <p:nvPr/>
        </p:nvSpPr>
        <p:spPr>
          <a:xfrm>
            <a:off x="6629400" y="5477256"/>
            <a:ext cx="566928" cy="27432"/>
          </a:xfrm>
          <a:prstGeom prst="roundRect">
            <a:avLst>
              <a:gd name="adj" fmla="val 100000"/>
            </a:avLst>
          </a:prstGeom>
          <a:solidFill>
            <a:srgbClr val="6B3FA0"/>
          </a:solidFill>
          <a:ln/>
        </p:spPr>
      </p:sp>
      <p:sp>
        <p:nvSpPr>
          <p:cNvPr id="22" name="Shape 19"/>
          <p:cNvSpPr/>
          <p:nvPr/>
        </p:nvSpPr>
        <p:spPr>
          <a:xfrm>
            <a:off x="868680" y="5541264"/>
            <a:ext cx="6537960" cy="0"/>
          </a:xfrm>
          <a:prstGeom prst="line">
            <a:avLst/>
          </a:prstGeom>
          <a:noFill/>
          <a:ln w="12700">
            <a:solidFill>
              <a:srgbClr val="9B6D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586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5586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8 (≈ 0)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955280" y="4892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LSTM foi criada exatamente para resolver isso.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grande ideia da LSTM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esteira de memória que atravessa o tempo quase sem obstáculos — e portões que decidem o que entra, o que sai e o que se esquece.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memória  C  —  caminho quase direto, peso ≈ 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3063240"/>
            <a:ext cx="10698480" cy="1051560"/>
          </a:xfrm>
          <a:prstGeom prst="roundRect">
            <a:avLst>
              <a:gd name="adj" fmla="val 12174"/>
            </a:avLst>
          </a:prstGeom>
          <a:solidFill>
            <a:srgbClr val="3D2A5C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589020"/>
            <a:ext cx="10698480" cy="0"/>
          </a:xfrm>
          <a:prstGeom prst="line">
            <a:avLst/>
          </a:prstGeom>
          <a:noFill/>
          <a:ln w="25400">
            <a:solidFill>
              <a:srgbClr val="9B6DD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926080" y="3319272"/>
            <a:ext cx="685800" cy="685800"/>
          </a:xfrm>
          <a:prstGeom prst="ellipse">
            <a:avLst/>
          </a:prstGeom>
          <a:solidFill>
            <a:srgbClr val="E0871F"/>
          </a:solidFill>
          <a:ln w="25400">
            <a:solidFill>
              <a:srgbClr val="2A1B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33192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852160" y="3319272"/>
            <a:ext cx="685800" cy="685800"/>
          </a:xfrm>
          <a:prstGeom prst="ellipse">
            <a:avLst/>
          </a:prstGeom>
          <a:solidFill>
            <a:srgbClr val="9B6DD6"/>
          </a:solidFill>
          <a:ln w="25400">
            <a:solidFill>
              <a:srgbClr val="2A1B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33192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778240" y="3319272"/>
            <a:ext cx="685800" cy="685800"/>
          </a:xfrm>
          <a:prstGeom prst="ellipse">
            <a:avLst/>
          </a:prstGeom>
          <a:solidFill>
            <a:srgbClr val="2E9E6B"/>
          </a:solidFill>
          <a:ln w="25400">
            <a:solidFill>
              <a:srgbClr val="2A1B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0" y="33192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31520" y="457200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3D2A5C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4800600"/>
            <a:ext cx="640080" cy="640080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" y="495421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737360" y="47731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soma no lugar da multiplicação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987552" y="5394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 é atualizada somando informação nova — não multiplicando repetidamente. É isso que deixa o gradiente fluir por muitos passos.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63640" y="457200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3D2A5C"/>
          </a:solidFill>
          <a:ln/>
        </p:spPr>
      </p:sp>
      <p:sp>
        <p:nvSpPr>
          <p:cNvPr id="21" name="Shape 17"/>
          <p:cNvSpPr/>
          <p:nvPr/>
        </p:nvSpPr>
        <p:spPr>
          <a:xfrm>
            <a:off x="6492240" y="4800600"/>
            <a:ext cx="640080" cy="640080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59" y="4954219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269480" y="47731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Portões que aprendem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519672" y="5394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portão aprende sozinho quando guardar, apagar ou revelar informação — de acordo com os dados de treino.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LSTM CARREGA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estados: memória e saída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da RNN simples (que carrega só um vetor), a cada passo a LSTM mantém dois vetores: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394960" cy="2788920"/>
          </a:xfrm>
          <a:prstGeom prst="roundRect">
            <a:avLst>
              <a:gd name="adj" fmla="val 3934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286000"/>
            <a:ext cx="1280160" cy="1280160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2286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 de memória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749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 de longo prazo — a “esteira transportadora” da informação. Guarda o contexto importante (como aquele “não”) por muitos passos.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1965960"/>
            <a:ext cx="5394960" cy="2788920"/>
          </a:xfrm>
          <a:prstGeom prst="roundRect">
            <a:avLst>
              <a:gd name="adj" fmla="val 3934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286000"/>
            <a:ext cx="1280160" cy="1280160"/>
          </a:xfrm>
          <a:prstGeom prst="ellipse">
            <a:avLst/>
          </a:prstGeom>
          <a:solidFill>
            <a:srgbClr val="E0871F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629400" y="2286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oculto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647688" y="3749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do passo atual — o que é exposto para a próxima camada ou passo. É uma versão filtrada da memória Cₜ.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11109960" cy="868680"/>
          </a:xfrm>
          <a:prstGeom prst="roundRect">
            <a:avLst>
              <a:gd name="adj" fmla="val 12632"/>
            </a:avLst>
          </a:prstGeom>
          <a:solidFill>
            <a:srgbClr val="2A1B3D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68680" y="51480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entrada de cada passo é </a:t>
            </a:r>
            <a:pPr indent="0" marL="0">
              <a:buNone/>
            </a:pPr>
            <a:r>
              <a:rPr lang="en-US" sz="1500" b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</a:t>
            </a:r>
            <a:pPr indent="0" marL="0">
              <a:buNone/>
            </a:pPr>
            <a:r>
              <a:rPr lang="en-US" sz="15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nosso projeto, o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da palavra atual</a:t>
            </a:r>
            <a:pPr indent="0" marL="0">
              <a:buNone/>
            </a:pPr>
            <a:r>
              <a:rPr lang="en-US" sz="15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(mais sobre isso já já).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VÁLVULAS DA REDE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portões (gates)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portão é uma pequena camada com uma </a:t>
            </a:r>
            <a:pPr indent="0" marL="0">
              <a:buNone/>
            </a:pPr>
            <a:r>
              <a:rPr lang="en-US" sz="14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sigmoide (σ)</a:t>
            </a:r>
            <a:pPr indent="0" marL="0">
              <a:buNone/>
            </a:pPr>
            <a:r>
              <a:rPr lang="en-US" sz="14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devolve um valor entre 0 e 1. Pense numa válvula:  </a:t>
            </a:r>
            <a:pPr indent="0" marL="0">
              <a:buNone/>
            </a:pPr>
            <a:r>
              <a:rPr lang="en-US" sz="1450" b="1" dirty="0">
                <a:solidFill>
                  <a:srgbClr val="CF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fecha tudo</a:t>
            </a:r>
            <a:pPr indent="0" marL="0">
              <a:buNone/>
            </a:pPr>
            <a:r>
              <a:rPr lang="en-US" sz="14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14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deixa passar tudo.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74520" y="2331720"/>
            <a:ext cx="914400" cy="914400"/>
          </a:xfrm>
          <a:prstGeom prst="ellipse">
            <a:avLst/>
          </a:prstGeom>
          <a:solidFill>
            <a:srgbClr val="E0871F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76" y="2551176"/>
            <a:ext cx="475488" cy="4754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Iₜ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822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Portão de Entrada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206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da informação nova candidata entra na memória.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15968" y="20574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41848" y="2331720"/>
            <a:ext cx="914400" cy="914400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55117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15968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Fₜ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4315968" y="3822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Portão de Esquecimento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90288" y="4206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da memória anterior é mantido (e quanto se apaga).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083296" y="20574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409176" y="2331720"/>
            <a:ext cx="914400" cy="91440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551176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83296" y="3337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Oₜ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8083296" y="3822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Portão de Saída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357616" y="4206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da memória é exposto no estado oculto Hₜ.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120640"/>
            <a:ext cx="11109960" cy="822960"/>
          </a:xfrm>
          <a:prstGeom prst="roundRect">
            <a:avLst>
              <a:gd name="adj" fmla="val 13333"/>
            </a:avLst>
          </a:prstGeom>
          <a:solidFill>
            <a:srgbClr val="EDE4F7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822960" y="5230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olham para a mesma informação (Xₜ e Hₜ₋₁), mas aprendem pesos diferentes — por isso tomam decisões diferentes.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DA LSTM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Atualizar a memória: esquecer + aprender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109960" cy="1005840"/>
          </a:xfrm>
          <a:prstGeom prst="roundRect">
            <a:avLst>
              <a:gd name="adj" fmla="val 10909"/>
            </a:avLst>
          </a:prstGeom>
          <a:solidFill>
            <a:srgbClr val="FBE7CE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361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 candidata  C̃ₜ = tanh(…)  </a:t>
            </a:r>
            <a:pPr indent="0" marL="0">
              <a:buNone/>
            </a:pPr>
            <a:r>
              <a:rPr lang="en-US" sz="14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“proposta” de informação nova. Usa tanh, que dá valores entre −1 e 1 (pode reforçar ou inibir).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11109960" cy="1051560"/>
          </a:xfrm>
          <a:prstGeom prst="roundRect">
            <a:avLst>
              <a:gd name="adj" fmla="val 10435"/>
            </a:avLst>
          </a:prstGeom>
          <a:solidFill>
            <a:srgbClr val="2A1B3D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48640" y="285292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</a:t>
            </a:r>
            <a:pPr algn="ctr" indent="0" marL="0">
              <a:buNone/>
            </a:pPr>
            <a:r>
              <a:rPr lang="en-US" sz="2800" dirty="0">
                <a:solidFill>
                  <a:srgbClr val="9B6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2800" b="1" dirty="0">
                <a:solidFill>
                  <a:srgbClr val="9B6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Fₜ ⊙ Cₜ₋₁</a:t>
            </a:r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+   </a:t>
            </a:r>
            <a:pPr algn="ctr" indent="0" marL="0">
              <a:buNone/>
            </a:pPr>
            <a:r>
              <a:rPr lang="en-US" sz="2800" b="1" dirty="0">
                <a:solidFill>
                  <a:srgbClr val="E0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Iₜ ⊙ C̃ₜ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64992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parte da memória antiga</a:t>
            </a:r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+        </a:t>
            </a:r>
            <a:pPr algn="ctr" indent="0" marL="0">
              <a:buNone/>
            </a:pPr>
            <a:r>
              <a:rPr lang="en-US" sz="1200" i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parte da informação nova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425196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F≈1 e I≈0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 é preservada intacta. Ótimo para guardar contexto longo (o “não”).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15968" y="402336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90288" y="425196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CF435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90288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F≈0 e I≈1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90288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 antiga é descartada e substituída pela informação nova.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83296" y="402336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57616" y="425196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6B3FA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357616" y="4251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no meio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357616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 suave: um pouco do antigo, um pouco do novo.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7607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aditivo (somar, em vez de multiplicar repetidamente) é o que evita o gradiente que desaparece.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DO PASSO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oculto: a memória filtrada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109960" cy="960120"/>
          </a:xfrm>
          <a:prstGeom prst="roundRect">
            <a:avLst>
              <a:gd name="adj" fmla="val 11429"/>
            </a:avLst>
          </a:prstGeom>
          <a:solidFill>
            <a:srgbClr val="2A1B3D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1664208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  =  Oₜ ⊙ tanh(Cₜ)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980944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6B3FA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9809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tanh(Cₜ)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83464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reescala a memória para o intervalo −1 a 1.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895344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895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Oₜ ⊙ …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374904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portão de saída decide quanto dessa memória vira saída agora.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11109960" cy="1051560"/>
          </a:xfrm>
          <a:prstGeom prst="roundRect">
            <a:avLst>
              <a:gd name="adj" fmla="val 10435"/>
            </a:avLst>
          </a:prstGeom>
          <a:solidFill>
            <a:srgbClr val="EDE4F7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5120640"/>
            <a:ext cx="640080" cy="640080"/>
          </a:xfrm>
          <a:prstGeom prst="ellipse">
            <a:avLst/>
          </a:prstGeom>
          <a:solidFill>
            <a:srgbClr val="E0871F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527425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91640" y="495604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permite à rede acumular memória silenciosamente (guardar em Cₜ sem expor em Hₜ) e só “liberar” a informação quando ela for relevante.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passo de tempo, do início ao fim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3D2A5C"/>
          </a:solidFill>
          <a:ln w="19050">
            <a:solidFill>
              <a:srgbClr val="E0871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645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2920" y="27889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3D2A5C"/>
          </a:solidFill>
          <a:ln w="19050">
            <a:solidFill>
              <a:srgbClr val="9B6D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Hₜ₋₁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oculto anterior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40233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3D2A5C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Cₜ₋₁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anterior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063240" y="12344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087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63240" y="13624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Fₜ = σ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1764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esquecimento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63240" y="2331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9B6DD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063240" y="24597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Iₜ = σ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06324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063240" y="3429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BE7C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063240" y="35570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C̃ₜ = tanh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306324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063240" y="45262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E9E6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063240" y="46542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Oₜ = σ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3063240" y="5056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057400" y="1965960"/>
            <a:ext cx="1005840" cy="0"/>
          </a:xfrm>
          <a:prstGeom prst="line">
            <a:avLst/>
          </a:prstGeom>
          <a:noFill/>
          <a:ln w="15875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2057400" y="3200400"/>
            <a:ext cx="1005840" cy="0"/>
          </a:xfrm>
          <a:prstGeom prst="line">
            <a:avLst/>
          </a:prstGeom>
          <a:noFill/>
          <a:ln w="15875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057400" y="4434840"/>
            <a:ext cx="1005840" cy="0"/>
          </a:xfrm>
          <a:prstGeom prst="line">
            <a:avLst/>
          </a:prstGeom>
          <a:noFill/>
          <a:ln w="15875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989320" y="13258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3FA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893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⊙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5989320" y="27889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3FA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893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⊙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7086600" y="20574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3FA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0866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566928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⊙ Cₜ₋₁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0" y="3456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⊙ C̃ₜ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092440" y="17373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6B3FA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092440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809244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549640" y="329184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3FA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54964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⊙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7772400" y="34015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966960" y="30632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0871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9966960" y="31729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2200" dirty="0"/>
          </a:p>
        </p:txBody>
      </p:sp>
      <p:sp>
        <p:nvSpPr>
          <p:cNvPr id="45" name="Text 42"/>
          <p:cNvSpPr txBox="1"/>
          <p:nvPr/>
        </p:nvSpPr>
        <p:spPr>
          <a:xfrm>
            <a:off x="996696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do passo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349240" y="1645920"/>
            <a:ext cx="640080" cy="0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5349240" y="2926080"/>
            <a:ext cx="640080" cy="182880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5349240" y="3886200"/>
            <a:ext cx="640080" cy="-777240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6629400" y="1691640"/>
            <a:ext cx="457200" cy="457200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6629400" y="3063240"/>
            <a:ext cx="457200" cy="-502920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7726680" y="2331720"/>
            <a:ext cx="365760" cy="-91440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8869680" y="2606040"/>
            <a:ext cx="0" cy="685800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9189720" y="3611880"/>
            <a:ext cx="777240" cy="-118872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5349240" y="4983480"/>
            <a:ext cx="3520440" cy="0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4983480"/>
            <a:ext cx="0" cy="-1051560"/>
          </a:xfrm>
          <a:prstGeom prst="line">
            <a:avLst/>
          </a:prstGeom>
          <a:noFill/>
          <a:ln w="2032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502920" y="5532120"/>
            <a:ext cx="11201400" cy="685800"/>
          </a:xfrm>
          <a:prstGeom prst="roundRect">
            <a:avLst>
              <a:gd name="adj" fmla="val 13333"/>
            </a:avLst>
          </a:prstGeom>
          <a:solidFill>
            <a:srgbClr val="3D2A5C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685800" y="55321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6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 = Fₜ⊙Cₜ₋₁ + Iₜ⊙C̃ₜ</a:t>
            </a:r>
            <a:pPr algn="ctr" indent="0" marL="0">
              <a:buNone/>
            </a:pPr>
            <a:r>
              <a:rPr lang="en-US" sz="1500" b="1" dirty="0">
                <a:solidFill>
                  <a:srgbClr val="E0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Hₜ = Oₜ⊙tanh(Cₜ)</a:t>
            </a:r>
            <a:pPr algn="ctr" indent="0" marL="0">
              <a:buNone/>
            </a:pPr>
            <a:r>
              <a:rPr lang="en-US" sz="1500" dirty="0">
                <a:solidFill>
                  <a:srgbClr val="EDE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→  Hₜ segue para o próximo passo / camada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USAMOS NO PROJETO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Bi-LSTM: ler nos dois sentidos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LSTMs leem a frase ao mesmo tempo — uma da esquerda→direita e outra da direita→esquerda — e suas saídas são concatenadas.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600200" y="26517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00200" y="2651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0" y="26517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2651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“produto”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15000" y="26517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2651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“não”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0" y="26517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2651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“é”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829800" y="26517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DE4F7"/>
          </a:solidFill>
          <a:ln w="12700">
            <a:solidFill>
              <a:srgbClr val="9B6D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29800" y="2651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“bom”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600200" y="2331720"/>
            <a:ext cx="9966960" cy="0"/>
          </a:xfrm>
          <a:prstGeom prst="line">
            <a:avLst/>
          </a:prstGeom>
          <a:noFill/>
          <a:ln w="381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16002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esquerda → direita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567160" y="3657600"/>
            <a:ext cx="-9966960" cy="0"/>
          </a:xfrm>
          <a:prstGeom prst="line">
            <a:avLst/>
          </a:prstGeom>
          <a:noFill/>
          <a:ln w="38100">
            <a:solidFill>
              <a:srgbClr val="E0871F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790956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direita → esquerda  ←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251960"/>
            <a:ext cx="6858000" cy="1691640"/>
          </a:xfrm>
          <a:prstGeom prst="roundRect">
            <a:avLst>
              <a:gd name="adj" fmla="val 6486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" y="4462272"/>
            <a:ext cx="640080" cy="640080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4615891"/>
            <a:ext cx="332842" cy="33284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600200" y="44988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ajuda em sentimento?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52303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sentido de uma palavra depende do contexto dos dois lados. Já saber que existe um “bom” à frente muda como interpretamos o “não” — e vice-versa.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635240" y="425196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2A1B3D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7635240" y="4526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× 2 = 256</a:t>
            </a:r>
            <a:endParaRPr lang="en-US" sz="3400" dirty="0"/>
          </a:p>
        </p:txBody>
      </p:sp>
      <p:sp>
        <p:nvSpPr>
          <p:cNvPr id="27" name="Text 23"/>
          <p:cNvSpPr txBox="1"/>
          <p:nvPr/>
        </p:nvSpPr>
        <p:spPr>
          <a:xfrm>
            <a:off x="795528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entregues ao classificador final (as duas direções concatenadas).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COMO ELA “ENTENDE” PALAVRAS?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palavra a vetor: o embedding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computador só entende números. Fazemos duas conversões antes de a LSTM ler: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E0871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194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Palavra → índice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249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de identidade, como o da camisa de um jogador. Ainda não tem significado.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“bom” → 58     “péssimo” → 192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A1B3D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37960" y="2148840"/>
            <a:ext cx="548640" cy="54864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37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194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→ vetor (embedding)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27249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de Embedding troca cada índice por uma lista de 64 números: as “coordenadas de significado” da palavra.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7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“bom” → [ 0.12, −0.45, 0.88, … ]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23360"/>
            <a:ext cx="11109960" cy="1874520"/>
          </a:xfrm>
          <a:prstGeom prst="roundRect">
            <a:avLst>
              <a:gd name="adj" fmla="val 5854"/>
            </a:avLst>
          </a:prstGeom>
          <a:solidFill>
            <a:srgbClr val="FBE7CE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4400" y="4343400"/>
            <a:ext cx="822960" cy="822960"/>
          </a:xfrm>
          <a:prstGeom prst="ellipse">
            <a:avLst/>
          </a:prstGeom>
          <a:solidFill>
            <a:srgbClr val="E0871F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4540910"/>
            <a:ext cx="427939" cy="427939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965960" y="42519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começo do treino, esses números são totalmente aleatórios.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1965960" y="47548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ainda não sabe nada — é como um bebê que ouve as palavras mas ainda não sabe o que querem dizer. Não existe nenhuma lista de “palavras positivas / negativas” no código. O significado vai emergir sozinho, a partir dos exemplos. Como? No próximo slide.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SIGNIFICADO NASCE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aprendizado: tentar, errar, ajustar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treino é um ciclo repetido milhares de vezes. Nenhuma palavra é marcada à mão: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54480" y="2194560"/>
            <a:ext cx="640080" cy="64008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5544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Chuta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prevê Neg/Neu/Pos com os números atuais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" y="3867912"/>
            <a:ext cx="2377440" cy="310896"/>
          </a:xfrm>
          <a:prstGeom prst="roundRect">
            <a:avLst>
              <a:gd name="adj" fmla="val 11765"/>
            </a:avLst>
          </a:prstGeom>
          <a:solidFill>
            <a:srgbClr val="2A1B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38679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E7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model(seqs)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9544" y="3108960"/>
            <a:ext cx="146304" cy="0"/>
          </a:xfrm>
          <a:prstGeom prst="line">
            <a:avLst/>
          </a:prstGeom>
          <a:noFill/>
          <a:ln w="317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64992" y="196596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70832" y="2194560"/>
            <a:ext cx="640080" cy="640080"/>
          </a:xfrm>
          <a:prstGeom prst="ellipse">
            <a:avLst/>
          </a:prstGeom>
          <a:solidFill>
            <a:srgbClr val="E0871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37083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502152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Mede o erro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547872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chute com o rótulo real do CSV (loss)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502152" y="3867912"/>
            <a:ext cx="2377440" cy="310896"/>
          </a:xfrm>
          <a:prstGeom prst="roundRect">
            <a:avLst>
              <a:gd name="adj" fmla="val 11765"/>
            </a:avLst>
          </a:prstGeom>
          <a:solidFill>
            <a:srgbClr val="2A1B3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502152" y="38679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E7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criterion(…)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25896" y="3108960"/>
            <a:ext cx="146304" cy="0"/>
          </a:xfrm>
          <a:prstGeom prst="line">
            <a:avLst/>
          </a:prstGeom>
          <a:noFill/>
          <a:ln w="317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181344" y="196596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87184" y="2194560"/>
            <a:ext cx="640080" cy="640080"/>
          </a:xfrm>
          <a:prstGeom prst="ellipse">
            <a:avLst/>
          </a:prstGeom>
          <a:solidFill>
            <a:srgbClr val="CF435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8718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318504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Descobre a culpa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364224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quanto cada número contribuiu para o erro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318504" y="3867912"/>
            <a:ext cx="2377440" cy="310896"/>
          </a:xfrm>
          <a:prstGeom prst="roundRect">
            <a:avLst>
              <a:gd name="adj" fmla="val 11765"/>
            </a:avLst>
          </a:prstGeom>
          <a:solidFill>
            <a:srgbClr val="2A1B3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18504" y="38679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E7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842248" y="3108960"/>
            <a:ext cx="146304" cy="0"/>
          </a:xfrm>
          <a:prstGeom prst="line">
            <a:avLst/>
          </a:prstGeom>
          <a:noFill/>
          <a:ln w="317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997696" y="196596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0003536" y="2194560"/>
            <a:ext cx="640080" cy="64008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00353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9134856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9180576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empurra cada número na direção que diminui o erro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9134856" y="3867912"/>
            <a:ext cx="2377440" cy="310896"/>
          </a:xfrm>
          <a:prstGeom prst="roundRect">
            <a:avLst>
              <a:gd name="adj" fmla="val 11765"/>
            </a:avLst>
          </a:prstGeom>
          <a:solidFill>
            <a:srgbClr val="2A1B3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134856" y="38679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E7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874520" y="4251960"/>
            <a:ext cx="0" cy="320040"/>
          </a:xfrm>
          <a:prstGeom prst="line">
            <a:avLst/>
          </a:prstGeom>
          <a:noFill/>
          <a:ln w="25400">
            <a:solidFill>
              <a:srgbClr val="6B3FA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874520" y="4572000"/>
            <a:ext cx="8449056" cy="0"/>
          </a:xfrm>
          <a:prstGeom prst="line">
            <a:avLst/>
          </a:prstGeom>
          <a:noFill/>
          <a:ln w="25400">
            <a:solidFill>
              <a:srgbClr val="6B3FA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323576" y="4572000"/>
            <a:ext cx="0" cy="-320040"/>
          </a:xfrm>
          <a:prstGeom prst="line">
            <a:avLst/>
          </a:prstGeom>
          <a:noFill/>
          <a:ln w="2540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milhares de vezes  ↺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525780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2A1B3D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868680" y="5349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pPr indent="0" marL="0">
              <a:buNone/>
            </a:pPr>
            <a:r>
              <a:rPr lang="en-US" sz="135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vez que “péssimo” aparece em frases negativas, seu vetor é empurrado para a região do “negativo”. Depois de milhares de repetições, o significado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emergiu sozinho dos dados</a:t>
            </a:r>
            <a:pPr indent="0" marL="0">
              <a:buNone/>
            </a:pPr>
            <a:r>
              <a:rPr lang="en-US" sz="135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ninguém programou isso.</a:t>
            </a:r>
            <a:endParaRPr lang="en-US" sz="135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PONTA A PONTA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de uma frase real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projeto: uma reclamação crua até a decisão automática de triagem.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109960" cy="603504"/>
          </a:xfrm>
          <a:prstGeom prst="roundRect">
            <a:avLst>
              <a:gd name="adj" fmla="val 1818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75104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E0871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9751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Frase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187452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“atendimento horrível”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03620" y="2478024"/>
            <a:ext cx="0" cy="109728"/>
          </a:xfrm>
          <a:prstGeom prst="line">
            <a:avLst/>
          </a:prstGeom>
          <a:noFill/>
          <a:ln w="2540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587752"/>
            <a:ext cx="11109960" cy="603504"/>
          </a:xfrm>
          <a:prstGeom prst="roundRect">
            <a:avLst>
              <a:gd name="adj" fmla="val 1818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688336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E0871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2688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154680" y="258775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[ 12, 87, 0, 0 ]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03620" y="3191256"/>
            <a:ext cx="0" cy="109728"/>
          </a:xfrm>
          <a:prstGeom prst="line">
            <a:avLst/>
          </a:prstGeom>
          <a:noFill/>
          <a:ln w="2540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48640" y="3300984"/>
            <a:ext cx="11109960" cy="603504"/>
          </a:xfrm>
          <a:prstGeom prst="roundRect">
            <a:avLst>
              <a:gd name="adj" fmla="val 1818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401568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6B3FA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34015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30098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vetores (64 col.)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03620" y="3904488"/>
            <a:ext cx="0" cy="109728"/>
          </a:xfrm>
          <a:prstGeom prst="line">
            <a:avLst/>
          </a:prstGeom>
          <a:noFill/>
          <a:ln w="2540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48640" y="4014216"/>
            <a:ext cx="11109960" cy="603504"/>
          </a:xfrm>
          <a:prstGeom prst="roundRect">
            <a:avLst>
              <a:gd name="adj" fmla="val 1818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11480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6B3FA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41148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Bi-LSTM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154680" y="401421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tudo em 256 números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03620" y="4617720"/>
            <a:ext cx="0" cy="109728"/>
          </a:xfrm>
          <a:prstGeom prst="line">
            <a:avLst/>
          </a:prstGeom>
          <a:noFill/>
          <a:ln w="2540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48640" y="4727448"/>
            <a:ext cx="11109960" cy="603504"/>
          </a:xfrm>
          <a:prstGeom prst="roundRect">
            <a:avLst>
              <a:gd name="adj" fmla="val 18182"/>
            </a:avLst>
          </a:prstGeom>
          <a:solidFill>
            <a:srgbClr val="F7F3FC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" y="4828032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9B6DD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7240" y="48280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154680" y="472744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notas (logits)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103620" y="5330952"/>
            <a:ext cx="0" cy="109728"/>
          </a:xfrm>
          <a:prstGeom prst="line">
            <a:avLst/>
          </a:prstGeom>
          <a:noFill/>
          <a:ln w="25400">
            <a:solidFill>
              <a:srgbClr val="9B6DD6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48640" y="5440680"/>
            <a:ext cx="11109960" cy="603504"/>
          </a:xfrm>
          <a:prstGeom prst="roundRect">
            <a:avLst>
              <a:gd name="adj" fmla="val 18182"/>
            </a:avLst>
          </a:prstGeom>
          <a:solidFill>
            <a:srgbClr val="D8F0E4"/>
          </a:solidFill>
          <a:ln w="12700">
            <a:solidFill>
              <a:srgbClr val="ED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77240" y="5541264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2E9E6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77240" y="55412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3154680" y="54406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 95% · Neu 3% · Pos 2%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9326880" y="5541264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2E9E6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326880" y="55412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NEGATIVO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ESPELHO NO FUTURO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os modelos grandes, como o BERTimbau?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D8F0E4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5" y="1912925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IGUAL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6060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viram índices e ganham vetores de embedding.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vetores começam aleatórios.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máquina: erro → backward → step (descida de gradiente).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significado emerge dos dados — ninguém escreve regras de palavras.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17920" y="14630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EDE4F7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737360"/>
            <a:ext cx="731520" cy="731520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525" y="191292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5236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DIFERENTE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6492240" y="26517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</a:t>
            </a:r>
            <a:pPr indent="0" marL="0">
              <a:buNone/>
            </a:pPr>
            <a:r>
              <a:rPr lang="en-US" sz="12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auto-supervisionada: adivinhar a palavra escondida ([MASK]) — sem rótulo humano.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340156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Escala: </a:t>
            </a:r>
            <a:pPr indent="0" marL="0">
              <a:buNone/>
            </a:pPr>
            <a:r>
              <a:rPr lang="en-US" sz="12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bilhões de frases e ~110 milhões de parâmetros (contra ~600 mil aqui).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415137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Arquitetura: </a:t>
            </a:r>
            <a:pPr indent="0" marL="0">
              <a:buNone/>
            </a:pPr>
            <a:r>
              <a:rPr lang="en-US" sz="12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com self-attention, no lugar da Bi-LSTM.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490118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</a:t>
            </a:r>
            <a:pPr indent="0" marL="0">
              <a:buNone/>
            </a:pPr>
            <a:r>
              <a:rPr lang="en-US" sz="1250" dirty="0">
                <a:solidFill>
                  <a:srgbClr val="2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contextuais: o vetor muda conforme a frase (“banco” de sentar vs. de dinheiro).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é o mesmo; o BERTimbau muda o que prevê, a escala e a arquitetura. É o “próximo passo” natural do projeto.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822960" cy="822960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7461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pontos-chave sobre a LSTM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3D2A5C"/>
          </a:solidFill>
          <a:ln/>
        </p:spPr>
      </p:sp>
      <p:sp>
        <p:nvSpPr>
          <p:cNvPr id="7" name="Shape 4"/>
          <p:cNvSpPr/>
          <p:nvPr/>
        </p:nvSpPr>
        <p:spPr>
          <a:xfrm>
            <a:off x="896112" y="2167128"/>
            <a:ext cx="603504" cy="60350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6112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84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estados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3500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C (longo prazo) + estado oculto H (a saída do passo).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17830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3D2A5C"/>
          </a:solidFill>
          <a:ln/>
        </p:spPr>
      </p:sp>
      <p:sp>
        <p:nvSpPr>
          <p:cNvPr id="12" name="Shape 9"/>
          <p:cNvSpPr/>
          <p:nvPr/>
        </p:nvSpPr>
        <p:spPr>
          <a:xfrm>
            <a:off x="6656832" y="2167128"/>
            <a:ext cx="603504" cy="60350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56832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452360" y="1984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portões σ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3500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esquecimento e saída — válvulas entre 0 e 1.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355848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3D2A5C"/>
          </a:solidFill>
          <a:ln/>
        </p:spPr>
      </p:sp>
      <p:sp>
        <p:nvSpPr>
          <p:cNvPr id="17" name="Shape 14"/>
          <p:cNvSpPr/>
          <p:nvPr/>
        </p:nvSpPr>
        <p:spPr>
          <a:xfrm>
            <a:off x="896112" y="3739896"/>
            <a:ext cx="603504" cy="60350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7398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691640" y="3557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 candidata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91640" y="392277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propõe a informação nova, entre −1 e 1.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3355848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3D2A5C"/>
          </a:solidFill>
          <a:ln/>
        </p:spPr>
      </p:sp>
      <p:sp>
        <p:nvSpPr>
          <p:cNvPr id="22" name="Shape 19"/>
          <p:cNvSpPr/>
          <p:nvPr/>
        </p:nvSpPr>
        <p:spPr>
          <a:xfrm>
            <a:off x="6656832" y="3739896"/>
            <a:ext cx="603504" cy="60350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56832" y="37398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52360" y="3557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Atualização aditiva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452360" y="392277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F⊙Cₜ₋₁ + I⊙C̃ₜ — o segredo contra o gradiente que some.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928616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3D2A5C"/>
          </a:solidFill>
          <a:ln/>
        </p:spPr>
      </p:sp>
      <p:sp>
        <p:nvSpPr>
          <p:cNvPr id="27" name="Shape 24"/>
          <p:cNvSpPr/>
          <p:nvPr/>
        </p:nvSpPr>
        <p:spPr>
          <a:xfrm>
            <a:off x="896112" y="5312664"/>
            <a:ext cx="603504" cy="60350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96112" y="53126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1691640" y="51297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 filtrada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691640" y="5495544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O⊙tanh(Cₜ) — a rede escolhe o que expor.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0" y="4928616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3D2A5C"/>
          </a:solidFill>
          <a:ln/>
        </p:spPr>
      </p:sp>
      <p:sp>
        <p:nvSpPr>
          <p:cNvPr id="32" name="Shape 29"/>
          <p:cNvSpPr/>
          <p:nvPr/>
        </p:nvSpPr>
        <p:spPr>
          <a:xfrm>
            <a:off x="6656832" y="5312664"/>
            <a:ext cx="603504" cy="60350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656832" y="53126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7452360" y="51297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Bidirecional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452360" y="5495544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contexto dos dois lados — essencial para negações.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LSTM — Aula introdutória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127455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698480" cy="2011680"/>
          </a:xfrm>
          <a:prstGeom prst="roundRect">
            <a:avLst>
              <a:gd name="adj" fmla="val 6364"/>
            </a:avLst>
          </a:prstGeom>
          <a:solidFill>
            <a:srgbClr val="3D2A5C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417320"/>
            <a:ext cx="914400" cy="914400"/>
          </a:xfrm>
          <a:prstGeom prst="ellipse">
            <a:avLst/>
          </a:prstGeom>
          <a:solidFill>
            <a:srgbClr val="E0871F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1636776"/>
            <a:ext cx="4754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28600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fixar — experimente!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treinar o modelo, teste estas duas frases e compare as probabilidades: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2286000"/>
            <a:ext cx="8778240" cy="685800"/>
          </a:xfrm>
          <a:prstGeom prst="roundRect">
            <a:avLst>
              <a:gd name="adj" fmla="val 8000"/>
            </a:avLst>
          </a:prstGeom>
          <a:solidFill>
            <a:srgbClr val="2A1B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22860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classificar_reclamacao("o produto é bom")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E7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classificar_reclamacao("o produto não é bom")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diferentes para frases tão parecidas?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prova de que o modelo aprendeu contexto e ordem — e não apenas “qual palavra apareceu”.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32704" y="4800600"/>
            <a:ext cx="914400" cy="914400"/>
          </a:xfrm>
          <a:prstGeom prst="ellipse">
            <a:avLst/>
          </a:prstGeom>
          <a:solidFill>
            <a:srgbClr val="6B3FA0"/>
          </a:solidFill>
          <a:ln/>
          <a:effectLst>
            <a:outerShdw sx="100000" sy="100000" kx="0" ky="0" algn="bl" rotWithShape="0" blurRad="101600" dist="38100" dir="5400000">
              <a:srgbClr val="8A7BA8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50200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0" y="57607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6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Vamos rodar o notebook analise_sentimentos_SAC.ipynb juntos.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LSTM — Aula introdutória</dc:title>
  <dc:subject>PptxGenJS Presentation</dc:subject>
  <dc:creator>Aula LSTM</dc:creator>
  <cp:lastModifiedBy>Aula LSTM</cp:lastModifiedBy>
  <cp:revision>1</cp:revision>
  <dcterms:created xsi:type="dcterms:W3CDTF">2026-08-31T16:22:50Z</dcterms:created>
  <dcterms:modified xsi:type="dcterms:W3CDTF">2026-08-31T16:22:50Z</dcterms:modified>
</cp:coreProperties>
</file>