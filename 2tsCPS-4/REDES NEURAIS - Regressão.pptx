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Roboto Mon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obotoMono-bold.fntdata"/><Relationship Id="rId52" Type="http://schemas.openxmlformats.org/officeDocument/2006/relationships/font" Target="fonts/RobotoMono-regular.fntdata"/><Relationship Id="rId11" Type="http://schemas.openxmlformats.org/officeDocument/2006/relationships/slide" Target="slides/slide6.xml"/><Relationship Id="rId55" Type="http://schemas.openxmlformats.org/officeDocument/2006/relationships/font" Target="fonts/RobotoMono-boldItalic.fntdata"/><Relationship Id="rId10" Type="http://schemas.openxmlformats.org/officeDocument/2006/relationships/slide" Target="slides/slide5.xml"/><Relationship Id="rId54"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8b90c5b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8b90c5b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b90c5bb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8b90c5bb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8b90c5bb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8b90c5bb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8b90c5bb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8b90c5bb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8b90c5bb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8b90c5bb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8b90c5bb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8b90c5bb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8b90c5bb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8b90c5bb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b90c5bb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b90c5bb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8b90c5bb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8b90c5bb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8b90c5bb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8b90c5bb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8b90c5bb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8b90c5bb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8b90c5bb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8b90c5bb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8b93e656a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8b93e656a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8b93e656a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8b93e656a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8b93e656a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8b93e656a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8b93e656a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8b93e656a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8b93e656a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8b93e656a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8b93e656a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f8b93e656a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8b93e656a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8b93e656a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8b93e656a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8b93e656a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b93e656a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8b93e656a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8b93e656a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8b93e656a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8b93e656a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8b93e656a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8b93e656a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8b93e656a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8b93e656a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8b93e656a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8b93e656a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8b93e656a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b93e656a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8b93e656a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8b93e656a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8b93e656a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8b93e656a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8b93e656a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8b93e656a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8b93e656a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8b93e656a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8b93e656a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8b93e656a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8b93e656a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8b93e656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8b93e656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8b93e656a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8b93e656a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8b93e656a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f8b93e656a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8b93e656a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8b93e656a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8b93e656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8b93e656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b93e656a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8b93e656a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8b93e656a_1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8b93e656a_1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8b93e656a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8b93e656a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8b93e656a_1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8b93e656a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8b93e656a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f8b93e656a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8b93e656a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f8b93e656a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8b93e656a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8b93e656a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8b93e656a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8b93e656a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26.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REDES NEURAIS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pt-BR"/>
              <a:t>https://scikit-learn.org/stable/modules/neural_networks_supervised.html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28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Regress</a:t>
            </a:r>
            <a:r>
              <a:rPr lang="pt-BR"/>
              <a:t>ão e Regularização</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pt-BR" sz="1100">
                <a:solidFill>
                  <a:schemeClr val="dk1"/>
                </a:solidFill>
              </a:rPr>
              <a:t>A classe </a:t>
            </a:r>
            <a:r>
              <a:rPr lang="pt-BR" sz="1100">
                <a:solidFill>
                  <a:srgbClr val="188038"/>
                </a:solidFill>
                <a:latin typeface="Roboto Mono"/>
                <a:ea typeface="Roboto Mono"/>
                <a:cs typeface="Roboto Mono"/>
                <a:sym typeface="Roboto Mono"/>
              </a:rPr>
              <a:t>MLPRegressor</a:t>
            </a:r>
            <a:r>
              <a:rPr lang="pt-BR" sz="1100">
                <a:solidFill>
                  <a:schemeClr val="dk1"/>
                </a:solidFill>
              </a:rPr>
              <a:t> implementa um perceptron multicamadas (MLP) que treina usando retropropagação sem função de ativação na camada de saída, o que também pode ser visto como o uso da função identidade como função de ativação. Portanto, utiliza o erro quadrático como função de perda, e a saída é um conjunto de valores contínuos.</a:t>
            </a:r>
            <a:endParaRPr sz="1100">
              <a:solidFill>
                <a:schemeClr val="dk1"/>
              </a:solidFill>
            </a:endParaRPr>
          </a:p>
          <a:p>
            <a:pPr indent="0" lvl="0" marL="0" rtl="0" algn="l">
              <a:spcBef>
                <a:spcPts val="1200"/>
              </a:spcBef>
              <a:spcAft>
                <a:spcPts val="0"/>
              </a:spcAft>
              <a:buNone/>
            </a:pPr>
            <a:r>
              <a:rPr lang="pt-BR" sz="1100">
                <a:solidFill>
                  <a:srgbClr val="188038"/>
                </a:solidFill>
                <a:latin typeface="Roboto Mono"/>
                <a:ea typeface="Roboto Mono"/>
                <a:cs typeface="Roboto Mono"/>
                <a:sym typeface="Roboto Mono"/>
              </a:rPr>
              <a:t>MLPRegressor</a:t>
            </a:r>
            <a:r>
              <a:rPr lang="pt-BR" sz="1100">
                <a:solidFill>
                  <a:schemeClr val="dk1"/>
                </a:solidFill>
              </a:rPr>
              <a:t> também suporta regressão multi-saída, na qual uma amostra pode ter mais de um alvo.</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400"/>
              </a:spcBef>
              <a:spcAft>
                <a:spcPts val="0"/>
              </a:spcAft>
              <a:buNone/>
            </a:pPr>
            <a:r>
              <a:rPr b="1" lang="pt-BR" sz="1300">
                <a:solidFill>
                  <a:schemeClr val="dk1"/>
                </a:solidFill>
              </a:rPr>
              <a:t>Regularização</a:t>
            </a:r>
            <a:endParaRPr b="1" sz="1300">
              <a:solidFill>
                <a:schemeClr val="dk1"/>
              </a:solidFill>
            </a:endParaRPr>
          </a:p>
          <a:p>
            <a:pPr indent="0" lvl="0" marL="0" rtl="0" algn="l">
              <a:spcBef>
                <a:spcPts val="1400"/>
              </a:spcBef>
              <a:spcAft>
                <a:spcPts val="400"/>
              </a:spcAft>
              <a:buClr>
                <a:schemeClr val="dk1"/>
              </a:buClr>
              <a:buSzPts val="1100"/>
              <a:buFont typeface="Arial"/>
              <a:buNone/>
            </a:pPr>
            <a:r>
              <a:rPr lang="pt-BR" sz="1100">
                <a:solidFill>
                  <a:schemeClr val="dk1"/>
                </a:solidFill>
              </a:rPr>
              <a:t>Tanto </a:t>
            </a:r>
            <a:r>
              <a:rPr lang="pt-BR" sz="1100">
                <a:solidFill>
                  <a:srgbClr val="188038"/>
                </a:solidFill>
                <a:latin typeface="Roboto Mono"/>
                <a:ea typeface="Roboto Mono"/>
                <a:cs typeface="Roboto Mono"/>
                <a:sym typeface="Roboto Mono"/>
              </a:rPr>
              <a:t>MLPRegressor</a:t>
            </a:r>
            <a:r>
              <a:rPr lang="pt-BR" sz="1100">
                <a:solidFill>
                  <a:schemeClr val="dk1"/>
                </a:solidFill>
              </a:rPr>
              <a:t> quanto </a:t>
            </a:r>
            <a:r>
              <a:rPr lang="pt-BR" sz="1100">
                <a:solidFill>
                  <a:srgbClr val="188038"/>
                </a:solidFill>
                <a:latin typeface="Roboto Mono"/>
                <a:ea typeface="Roboto Mono"/>
                <a:cs typeface="Roboto Mono"/>
                <a:sym typeface="Roboto Mono"/>
              </a:rPr>
              <a:t>MLPClassifier</a:t>
            </a:r>
            <a:r>
              <a:rPr lang="pt-BR" sz="1100">
                <a:solidFill>
                  <a:schemeClr val="dk1"/>
                </a:solidFill>
              </a:rPr>
              <a:t> usam o parâmetro </a:t>
            </a:r>
            <a:r>
              <a:rPr lang="pt-BR" sz="1100">
                <a:solidFill>
                  <a:srgbClr val="188038"/>
                </a:solidFill>
                <a:latin typeface="Roboto Mono"/>
                <a:ea typeface="Roboto Mono"/>
                <a:cs typeface="Roboto Mono"/>
                <a:sym typeface="Roboto Mono"/>
              </a:rPr>
              <a:t>alpha</a:t>
            </a:r>
            <a:r>
              <a:rPr lang="pt-BR" sz="1100">
                <a:solidFill>
                  <a:schemeClr val="dk1"/>
                </a:solidFill>
              </a:rPr>
              <a:t> para o termo de regularização (regularização L2) que ajuda a evitar overfitting penalizando pesos com grandes magnitudes. O gráfico a seguir exibe a variação da função de decisão com o valor de alpha.</a:t>
            </a:r>
            <a:endParaRPr b="1" sz="13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52400" y="152400"/>
            <a:ext cx="8648700" cy="4391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6"/>
          <p:cNvPicPr preferRelativeResize="0"/>
          <p:nvPr/>
        </p:nvPicPr>
        <p:blipFill>
          <a:blip r:embed="rId3">
            <a:alphaModFix/>
          </a:blip>
          <a:stretch>
            <a:fillRect/>
          </a:stretch>
        </p:blipFill>
        <p:spPr>
          <a:xfrm>
            <a:off x="1019175" y="600075"/>
            <a:ext cx="7105650" cy="3943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p:cNvPicPr preferRelativeResize="0"/>
          <p:nvPr/>
        </p:nvPicPr>
        <p:blipFill>
          <a:blip r:embed="rId3">
            <a:alphaModFix/>
          </a:blip>
          <a:stretch>
            <a:fillRect/>
          </a:stretch>
        </p:blipFill>
        <p:spPr>
          <a:xfrm>
            <a:off x="914400" y="900113"/>
            <a:ext cx="7315200" cy="3343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8"/>
          <p:cNvPicPr preferRelativeResize="0"/>
          <p:nvPr/>
        </p:nvPicPr>
        <p:blipFill>
          <a:blip r:embed="rId3">
            <a:alphaModFix/>
          </a:blip>
          <a:stretch>
            <a:fillRect/>
          </a:stretch>
        </p:blipFill>
        <p:spPr>
          <a:xfrm>
            <a:off x="1263913" y="152400"/>
            <a:ext cx="6616182"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9"/>
          <p:cNvPicPr preferRelativeResize="0"/>
          <p:nvPr/>
        </p:nvPicPr>
        <p:blipFill>
          <a:blip r:embed="rId3">
            <a:alphaModFix/>
          </a:blip>
          <a:stretch>
            <a:fillRect/>
          </a:stretch>
        </p:blipFill>
        <p:spPr>
          <a:xfrm>
            <a:off x="981075" y="376238"/>
            <a:ext cx="7181850" cy="4391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20"/>
          <p:cNvPicPr preferRelativeResize="0"/>
          <p:nvPr/>
        </p:nvPicPr>
        <p:blipFill>
          <a:blip r:embed="rId3">
            <a:alphaModFix/>
          </a:blip>
          <a:stretch>
            <a:fillRect/>
          </a:stretch>
        </p:blipFill>
        <p:spPr>
          <a:xfrm>
            <a:off x="1414463" y="1628775"/>
            <a:ext cx="6315075" cy="1885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t-BR"/>
              <a:t>Exemplo do uso de Redes Neurais em problemas de Regress</a:t>
            </a:r>
            <a:r>
              <a:rPr lang="pt-BR"/>
              <a:t>ão</a:t>
            </a:r>
            <a:endParaRPr/>
          </a:p>
        </p:txBody>
      </p:sp>
      <p:sp>
        <p:nvSpPr>
          <p:cNvPr id="97" name="Google Shape;97;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pt-BR"/>
              <a:t>https://scikit-learn.org/stable/auto_examples/applications/plot_cyclical_feature_engineering.html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2"/>
          <p:cNvPicPr preferRelativeResize="0"/>
          <p:nvPr/>
        </p:nvPicPr>
        <p:blipFill>
          <a:blip r:embed="rId3">
            <a:alphaModFix/>
          </a:blip>
          <a:stretch>
            <a:fillRect/>
          </a:stretch>
        </p:blipFill>
        <p:spPr>
          <a:xfrm>
            <a:off x="152400" y="152400"/>
            <a:ext cx="8839202" cy="47533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pt-BR"/>
              <a:t>Para obter uma compreensão rápida dos padrões periódicos dos dados, vamos analisar a demanda média por hora durante uma semana.</a:t>
            </a:r>
            <a:endParaRPr/>
          </a:p>
          <a:p>
            <a:pPr indent="0" lvl="0" marL="0" rtl="0" algn="l">
              <a:spcBef>
                <a:spcPts val="1200"/>
              </a:spcBef>
              <a:spcAft>
                <a:spcPts val="0"/>
              </a:spcAft>
              <a:buClr>
                <a:schemeClr val="dk1"/>
              </a:buClr>
              <a:buSzPts val="1100"/>
              <a:buFont typeface="Arial"/>
              <a:buNone/>
            </a:pPr>
            <a:r>
              <a:rPr lang="pt-BR"/>
              <a:t>Note que a semana começa em um domingo, durante o fim de semana. Podemos distinguir claramente os padrões de deslocamento (commute) nas manhãs e noites dos dias úteis e o uso recreativo das bicicletas nos fins de semana com uma demanda de pico mais distribuída ao redor do meio do dia:</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4"/>
          <p:cNvPicPr preferRelativeResize="0"/>
          <p:nvPr/>
        </p:nvPicPr>
        <p:blipFill>
          <a:blip r:embed="rId3">
            <a:alphaModFix/>
          </a:blip>
          <a:stretch>
            <a:fillRect/>
          </a:stretch>
        </p:blipFill>
        <p:spPr>
          <a:xfrm>
            <a:off x="714113" y="152400"/>
            <a:ext cx="7715765"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nvSpPr>
        <p:spPr>
          <a:xfrm>
            <a:off x="255400" y="347300"/>
            <a:ext cx="86994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3000"/>
              <a:t>O alvo do problema de predição é a contagem absoluta de aluguéis de bicicletas em base horária:</a:t>
            </a:r>
            <a:endParaRPr sz="3000"/>
          </a:p>
        </p:txBody>
      </p:sp>
      <p:pic>
        <p:nvPicPr>
          <p:cNvPr id="119" name="Google Shape;119;p25"/>
          <p:cNvPicPr preferRelativeResize="0"/>
          <p:nvPr/>
        </p:nvPicPr>
        <p:blipFill>
          <a:blip r:embed="rId3">
            <a:alphaModFix/>
          </a:blip>
          <a:stretch>
            <a:fillRect/>
          </a:stretch>
        </p:blipFill>
        <p:spPr>
          <a:xfrm>
            <a:off x="2952750" y="2645825"/>
            <a:ext cx="3238500" cy="1752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nvSpPr>
        <p:spPr>
          <a:xfrm>
            <a:off x="0" y="0"/>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Vamos redimensionar a variável alvo (número de aluguéis de bicicletas por hora) para prever uma demanda relativa de modo que o erro absoluto médio seja mais facilmente interpretado como uma fração da demanda máxima.</a:t>
            </a:r>
            <a:endParaRPr/>
          </a:p>
        </p:txBody>
      </p:sp>
      <p:pic>
        <p:nvPicPr>
          <p:cNvPr id="125" name="Google Shape;125;p26"/>
          <p:cNvPicPr preferRelativeResize="0"/>
          <p:nvPr/>
        </p:nvPicPr>
        <p:blipFill>
          <a:blip r:embed="rId3">
            <a:alphaModFix/>
          </a:blip>
          <a:stretch>
            <a:fillRect/>
          </a:stretch>
        </p:blipFill>
        <p:spPr>
          <a:xfrm>
            <a:off x="3082413" y="831300"/>
            <a:ext cx="2979186" cy="4007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7"/>
          <p:cNvPicPr preferRelativeResize="0"/>
          <p:nvPr/>
        </p:nvPicPr>
        <p:blipFill>
          <a:blip r:embed="rId3">
            <a:alphaModFix/>
          </a:blip>
          <a:stretch>
            <a:fillRect/>
          </a:stretch>
        </p:blipFill>
        <p:spPr>
          <a:xfrm>
            <a:off x="152400" y="152400"/>
            <a:ext cx="8839198" cy="441217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8"/>
          <p:cNvSpPr txBox="1"/>
          <p:nvPr/>
        </p:nvSpPr>
        <p:spPr>
          <a:xfrm>
            <a:off x="0" y="0"/>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O dataframe de características de entrada é um registro horário anotado temporalmente de variáveis descrevendo as condições climáticas. Inclui tanto variáveis numéricas quanto categóricas. Observe que a informação de tempo já foi expandida em várias colunas complementares.</a:t>
            </a:r>
            <a:endParaRPr/>
          </a:p>
        </p:txBody>
      </p:sp>
      <p:pic>
        <p:nvPicPr>
          <p:cNvPr id="136" name="Google Shape;136;p28"/>
          <p:cNvPicPr preferRelativeResize="0"/>
          <p:nvPr/>
        </p:nvPicPr>
        <p:blipFill>
          <a:blip r:embed="rId3">
            <a:alphaModFix/>
          </a:blip>
          <a:stretch>
            <a:fillRect/>
          </a:stretch>
        </p:blipFill>
        <p:spPr>
          <a:xfrm>
            <a:off x="524238" y="901025"/>
            <a:ext cx="8095535" cy="4007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9"/>
          <p:cNvSpPr txBox="1"/>
          <p:nvPr/>
        </p:nvSpPr>
        <p:spPr>
          <a:xfrm>
            <a:off x="0" y="0"/>
            <a:ext cx="9096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chemeClr val="dk1"/>
                </a:solidFill>
              </a:rPr>
              <a:t>Agora fazemos uma introspecção da distribuição das variáveis categóricas, começando com </a:t>
            </a:r>
            <a:r>
              <a:rPr lang="pt-BR" sz="1100">
                <a:solidFill>
                  <a:srgbClr val="188038"/>
                </a:solidFill>
                <a:latin typeface="Roboto Mono"/>
                <a:ea typeface="Roboto Mono"/>
                <a:cs typeface="Roboto Mono"/>
                <a:sym typeface="Roboto Mono"/>
              </a:rPr>
              <a:t>"weather"</a:t>
            </a:r>
            <a:r>
              <a:rPr lang="pt-BR" sz="1100">
                <a:solidFill>
                  <a:schemeClr val="dk1"/>
                </a:solidFill>
              </a:rPr>
              <a:t>:</a:t>
            </a:r>
            <a:endParaRPr/>
          </a:p>
        </p:txBody>
      </p:sp>
      <p:pic>
        <p:nvPicPr>
          <p:cNvPr id="142" name="Google Shape;142;p29"/>
          <p:cNvPicPr preferRelativeResize="0"/>
          <p:nvPr/>
        </p:nvPicPr>
        <p:blipFill>
          <a:blip r:embed="rId3">
            <a:alphaModFix/>
          </a:blip>
          <a:stretch>
            <a:fillRect/>
          </a:stretch>
        </p:blipFill>
        <p:spPr>
          <a:xfrm>
            <a:off x="2881313" y="985825"/>
            <a:ext cx="3381375" cy="3171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0"/>
          <p:cNvSpPr txBox="1"/>
          <p:nvPr/>
        </p:nvSpPr>
        <p:spPr>
          <a:xfrm>
            <a:off x="0" y="0"/>
            <a:ext cx="9144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chemeClr val="dk1"/>
                </a:solidFill>
              </a:rPr>
              <a:t>Como há apenas 3 eventos de </a:t>
            </a:r>
            <a:r>
              <a:rPr lang="pt-BR" sz="1100">
                <a:solidFill>
                  <a:srgbClr val="188038"/>
                </a:solidFill>
                <a:latin typeface="Roboto Mono"/>
                <a:ea typeface="Roboto Mono"/>
                <a:cs typeface="Roboto Mono"/>
                <a:sym typeface="Roboto Mono"/>
              </a:rPr>
              <a:t>"heavy_rain"</a:t>
            </a:r>
            <a:r>
              <a:rPr lang="pt-BR" sz="1100">
                <a:solidFill>
                  <a:schemeClr val="dk1"/>
                </a:solidFill>
              </a:rPr>
              <a:t>, não podemos usar esta categoria para treinar modelos de aprendizado de máquina com validação cruzada. Em vez disso, simplificamos a representação integrando-as na categoria </a:t>
            </a:r>
            <a:r>
              <a:rPr lang="pt-BR" sz="1100">
                <a:solidFill>
                  <a:srgbClr val="188038"/>
                </a:solidFill>
                <a:latin typeface="Roboto Mono"/>
                <a:ea typeface="Roboto Mono"/>
                <a:cs typeface="Roboto Mono"/>
                <a:sym typeface="Roboto Mono"/>
              </a:rPr>
              <a:t>"rain"</a:t>
            </a:r>
            <a:r>
              <a:rPr lang="pt-BR" sz="1100">
                <a:solidFill>
                  <a:schemeClr val="dk1"/>
                </a:solidFill>
              </a:rPr>
              <a:t>.</a:t>
            </a:r>
            <a:endParaRPr/>
          </a:p>
        </p:txBody>
      </p:sp>
      <p:pic>
        <p:nvPicPr>
          <p:cNvPr id="148" name="Google Shape;148;p30"/>
          <p:cNvPicPr preferRelativeResize="0"/>
          <p:nvPr/>
        </p:nvPicPr>
        <p:blipFill>
          <a:blip r:embed="rId3">
            <a:alphaModFix/>
          </a:blip>
          <a:stretch>
            <a:fillRect/>
          </a:stretch>
        </p:blipFill>
        <p:spPr>
          <a:xfrm>
            <a:off x="206725" y="968075"/>
            <a:ext cx="5633099" cy="3497350"/>
          </a:xfrm>
          <a:prstGeom prst="rect">
            <a:avLst/>
          </a:prstGeom>
          <a:noFill/>
          <a:ln>
            <a:noFill/>
          </a:ln>
        </p:spPr>
      </p:pic>
      <p:pic>
        <p:nvPicPr>
          <p:cNvPr id="149" name="Google Shape;149;p30"/>
          <p:cNvPicPr preferRelativeResize="0"/>
          <p:nvPr/>
        </p:nvPicPr>
        <p:blipFill>
          <a:blip r:embed="rId4">
            <a:alphaModFix/>
          </a:blip>
          <a:stretch>
            <a:fillRect/>
          </a:stretch>
        </p:blipFill>
        <p:spPr>
          <a:xfrm>
            <a:off x="6091474" y="1481713"/>
            <a:ext cx="2999376" cy="24700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31"/>
          <p:cNvPicPr preferRelativeResize="0"/>
          <p:nvPr/>
        </p:nvPicPr>
        <p:blipFill>
          <a:blip r:embed="rId3">
            <a:alphaModFix/>
          </a:blip>
          <a:stretch>
            <a:fillRect/>
          </a:stretch>
        </p:blipFill>
        <p:spPr>
          <a:xfrm>
            <a:off x="2762250" y="881063"/>
            <a:ext cx="3619500" cy="3381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2"/>
          <p:cNvSpPr txBox="1"/>
          <p:nvPr/>
        </p:nvSpPr>
        <p:spPr>
          <a:xfrm>
            <a:off x="0" y="0"/>
            <a:ext cx="9144000" cy="186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pt-BR" sz="1300">
                <a:solidFill>
                  <a:schemeClr val="dk1"/>
                </a:solidFill>
              </a:rPr>
              <a:t>Validação Cruzada Baseada em Tempo</a:t>
            </a:r>
            <a:endParaRPr b="1" sz="1300">
              <a:solidFill>
                <a:schemeClr val="dk1"/>
              </a:solidFill>
            </a:endParaRPr>
          </a:p>
          <a:p>
            <a:pPr indent="0" lvl="0" marL="0" rtl="0" algn="l">
              <a:lnSpc>
                <a:spcPct val="115000"/>
              </a:lnSpc>
              <a:spcBef>
                <a:spcPts val="1200"/>
              </a:spcBef>
              <a:spcAft>
                <a:spcPts val="0"/>
              </a:spcAft>
              <a:buNone/>
            </a:pPr>
            <a:r>
              <a:rPr lang="pt-BR" sz="1100">
                <a:solidFill>
                  <a:schemeClr val="dk1"/>
                </a:solidFill>
              </a:rPr>
              <a:t>Como o conjunto de dados é um registro de eventos ordenado temporalmente (demanda por hora), usaremos um divisor de validação cruzada sensível ao tempo para avaliar nosso modelo de previsão de demanda da forma mais realista possível. Usamos um intervalo de 2 dias entre os lados de treinamento e teste das divisões. Também limitamos o tamanho do conjunto de treinamento para tornar o desempenho dos folds de validação cruzada mais estável.</a:t>
            </a:r>
            <a:endParaRPr sz="1100">
              <a:solidFill>
                <a:schemeClr val="dk1"/>
              </a:solidFill>
            </a:endParaRPr>
          </a:p>
          <a:p>
            <a:pPr indent="0" lvl="0" marL="0" rtl="0" algn="l">
              <a:lnSpc>
                <a:spcPct val="115000"/>
              </a:lnSpc>
              <a:spcBef>
                <a:spcPts val="1200"/>
              </a:spcBef>
              <a:spcAft>
                <a:spcPts val="1200"/>
              </a:spcAft>
              <a:buNone/>
            </a:pPr>
            <a:r>
              <a:rPr lang="pt-BR" sz="1100">
                <a:solidFill>
                  <a:schemeClr val="dk1"/>
                </a:solidFill>
              </a:rPr>
              <a:t>1000 pontos de dados de teste devem ser suficientes para quantificar o desempenho do modelo. Isso representa um pouco menos de um mês e meio de dados de teste contíguos:</a:t>
            </a:r>
            <a:endParaRPr sz="1100">
              <a:solidFill>
                <a:schemeClr val="dk1"/>
              </a:solidFill>
            </a:endParaRPr>
          </a:p>
        </p:txBody>
      </p:sp>
      <p:pic>
        <p:nvPicPr>
          <p:cNvPr id="160" name="Google Shape;160;p32"/>
          <p:cNvPicPr preferRelativeResize="0"/>
          <p:nvPr/>
        </p:nvPicPr>
        <p:blipFill>
          <a:blip r:embed="rId3">
            <a:alphaModFix/>
          </a:blip>
          <a:stretch>
            <a:fillRect/>
          </a:stretch>
        </p:blipFill>
        <p:spPr>
          <a:xfrm>
            <a:off x="823913" y="1794550"/>
            <a:ext cx="7496175" cy="2724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type="ctrTitle"/>
          </p:nvPr>
        </p:nvSpPr>
        <p:spPr>
          <a:xfrm>
            <a:off x="311700" y="744575"/>
            <a:ext cx="8520600" cy="37617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None/>
            </a:pPr>
            <a:r>
              <a:rPr b="1" lang="pt-BR" sz="4750">
                <a:solidFill>
                  <a:srgbClr val="222832"/>
                </a:solidFill>
                <a:highlight>
                  <a:srgbClr val="FFFFFF"/>
                </a:highlight>
              </a:rPr>
              <a:t>BEGIN</a:t>
            </a:r>
            <a:endParaRPr b="1" sz="4750">
              <a:solidFill>
                <a:srgbClr val="222832"/>
              </a:solidFill>
              <a:highlight>
                <a:srgbClr val="FFFFFF"/>
              </a:highlight>
            </a:endParaRPr>
          </a:p>
          <a:p>
            <a:pPr indent="0" lvl="0" marL="0" rtl="0" algn="ctr">
              <a:lnSpc>
                <a:spcPct val="115000"/>
              </a:lnSpc>
              <a:spcBef>
                <a:spcPts val="600"/>
              </a:spcBef>
              <a:spcAft>
                <a:spcPts val="0"/>
              </a:spcAft>
              <a:buClr>
                <a:schemeClr val="dk1"/>
              </a:buClr>
              <a:buSzPts val="1100"/>
              <a:buFont typeface="Arial"/>
              <a:buNone/>
            </a:pPr>
            <a:r>
              <a:rPr b="1" lang="pt-BR" sz="4750">
                <a:solidFill>
                  <a:srgbClr val="222832"/>
                </a:solidFill>
                <a:highlight>
                  <a:srgbClr val="FFFFFF"/>
                </a:highlight>
              </a:rPr>
              <a:t>TimeSeriesSplit</a:t>
            </a:r>
            <a:endParaRPr b="1" sz="4750">
              <a:solidFill>
                <a:srgbClr val="222832"/>
              </a:solidFill>
              <a:highlight>
                <a:srgbClr val="FFFFFF"/>
              </a:highlight>
            </a:endParaRPr>
          </a:p>
          <a:p>
            <a:pPr indent="0" lvl="0" marL="0" rtl="0" algn="l">
              <a:spcBef>
                <a:spcPts val="6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34"/>
          <p:cNvPicPr preferRelativeResize="0"/>
          <p:nvPr/>
        </p:nvPicPr>
        <p:blipFill>
          <a:blip r:embed="rId3">
            <a:alphaModFix/>
          </a:blip>
          <a:stretch>
            <a:fillRect/>
          </a:stretch>
        </p:blipFill>
        <p:spPr>
          <a:xfrm>
            <a:off x="1434450" y="152400"/>
            <a:ext cx="7205970" cy="483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35"/>
          <p:cNvPicPr preferRelativeResize="0"/>
          <p:nvPr/>
        </p:nvPicPr>
        <p:blipFill>
          <a:blip r:embed="rId3">
            <a:alphaModFix/>
          </a:blip>
          <a:stretch>
            <a:fillRect/>
          </a:stretch>
        </p:blipFill>
        <p:spPr>
          <a:xfrm>
            <a:off x="914400" y="819150"/>
            <a:ext cx="7315200" cy="3505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6"/>
          <p:cNvPicPr preferRelativeResize="0"/>
          <p:nvPr/>
        </p:nvPicPr>
        <p:blipFill>
          <a:blip r:embed="rId3">
            <a:alphaModFix/>
          </a:blip>
          <a:stretch>
            <a:fillRect/>
          </a:stretch>
        </p:blipFill>
        <p:spPr>
          <a:xfrm>
            <a:off x="947738" y="904875"/>
            <a:ext cx="7248525" cy="3333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37"/>
          <p:cNvPicPr preferRelativeResize="0"/>
          <p:nvPr/>
        </p:nvPicPr>
        <p:blipFill>
          <a:blip r:embed="rId3">
            <a:alphaModFix/>
          </a:blip>
          <a:stretch>
            <a:fillRect/>
          </a:stretch>
        </p:blipFill>
        <p:spPr>
          <a:xfrm>
            <a:off x="862013" y="857250"/>
            <a:ext cx="7419975" cy="3429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8"/>
          <p:cNvPicPr preferRelativeResize="0"/>
          <p:nvPr/>
        </p:nvPicPr>
        <p:blipFill>
          <a:blip r:embed="rId3">
            <a:alphaModFix/>
          </a:blip>
          <a:stretch>
            <a:fillRect/>
          </a:stretch>
        </p:blipFill>
        <p:spPr>
          <a:xfrm>
            <a:off x="876300" y="709613"/>
            <a:ext cx="7391400" cy="3724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9"/>
          <p:cNvPicPr preferRelativeResize="0"/>
          <p:nvPr/>
        </p:nvPicPr>
        <p:blipFill>
          <a:blip r:embed="rId3">
            <a:alphaModFix/>
          </a:blip>
          <a:stretch>
            <a:fillRect/>
          </a:stretch>
        </p:blipFill>
        <p:spPr>
          <a:xfrm>
            <a:off x="919163" y="552450"/>
            <a:ext cx="7305675" cy="4038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40"/>
          <p:cNvPicPr preferRelativeResize="0"/>
          <p:nvPr/>
        </p:nvPicPr>
        <p:blipFill>
          <a:blip r:embed="rId3">
            <a:alphaModFix/>
          </a:blip>
          <a:stretch>
            <a:fillRect/>
          </a:stretch>
        </p:blipFill>
        <p:spPr>
          <a:xfrm>
            <a:off x="1296250" y="204788"/>
            <a:ext cx="7334250" cy="4733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41"/>
          <p:cNvPicPr preferRelativeResize="0"/>
          <p:nvPr/>
        </p:nvPicPr>
        <p:blipFill>
          <a:blip r:embed="rId3">
            <a:alphaModFix/>
          </a:blip>
          <a:stretch>
            <a:fillRect/>
          </a:stretch>
        </p:blipFill>
        <p:spPr>
          <a:xfrm>
            <a:off x="1689688" y="152400"/>
            <a:ext cx="5764624" cy="4838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42"/>
          <p:cNvPicPr preferRelativeResize="0"/>
          <p:nvPr/>
        </p:nvPicPr>
        <p:blipFill>
          <a:blip r:embed="rId3">
            <a:alphaModFix/>
          </a:blip>
          <a:stretch>
            <a:fillRect/>
          </a:stretch>
        </p:blipFill>
        <p:spPr>
          <a:xfrm>
            <a:off x="2043113" y="1685925"/>
            <a:ext cx="5057775" cy="17716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3"/>
          <p:cNvSpPr txBox="1"/>
          <p:nvPr>
            <p:ph type="ctrTitle"/>
          </p:nvPr>
        </p:nvSpPr>
        <p:spPr>
          <a:xfrm>
            <a:off x="311700" y="744575"/>
            <a:ext cx="8520600" cy="37002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None/>
            </a:pPr>
            <a:r>
              <a:rPr b="1" lang="pt-BR" sz="4750">
                <a:solidFill>
                  <a:srgbClr val="222832"/>
                </a:solidFill>
                <a:highlight>
                  <a:srgbClr val="FFFFFF"/>
                </a:highlight>
              </a:rPr>
              <a:t>END</a:t>
            </a:r>
            <a:endParaRPr b="1" sz="4750">
              <a:solidFill>
                <a:srgbClr val="222832"/>
              </a:solidFill>
              <a:highlight>
                <a:srgbClr val="FFFFFF"/>
              </a:highlight>
            </a:endParaRPr>
          </a:p>
          <a:p>
            <a:pPr indent="0" lvl="0" marL="0" rtl="0" algn="ctr">
              <a:lnSpc>
                <a:spcPct val="115000"/>
              </a:lnSpc>
              <a:spcBef>
                <a:spcPts val="600"/>
              </a:spcBef>
              <a:spcAft>
                <a:spcPts val="0"/>
              </a:spcAft>
              <a:buNone/>
            </a:pPr>
            <a:r>
              <a:rPr b="1" lang="pt-BR" sz="4750">
                <a:solidFill>
                  <a:srgbClr val="222832"/>
                </a:solidFill>
                <a:highlight>
                  <a:srgbClr val="FFFFFF"/>
                </a:highlight>
              </a:rPr>
              <a:t>TimeSeriesSplit</a:t>
            </a:r>
            <a:endParaRPr b="1" sz="4750">
              <a:solidFill>
                <a:srgbClr val="222832"/>
              </a:solidFill>
              <a:highlight>
                <a:srgbClr val="FFFFFF"/>
              </a:highlight>
            </a:endParaRPr>
          </a:p>
          <a:p>
            <a:pPr indent="0" lvl="0" marL="0" rtl="0" algn="l">
              <a:spcBef>
                <a:spcPts val="6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4"/>
          <p:cNvSpPr txBox="1"/>
          <p:nvPr/>
        </p:nvSpPr>
        <p:spPr>
          <a:xfrm>
            <a:off x="0" y="0"/>
            <a:ext cx="9144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chemeClr val="dk1"/>
                </a:solidFill>
              </a:rPr>
              <a:t>Vamos inspecionar manualmente as várias divisões para verificar que o </a:t>
            </a:r>
            <a:r>
              <a:rPr lang="pt-BR" sz="1100">
                <a:solidFill>
                  <a:srgbClr val="188038"/>
                </a:solidFill>
                <a:latin typeface="Roboto Mono"/>
                <a:ea typeface="Roboto Mono"/>
                <a:cs typeface="Roboto Mono"/>
                <a:sym typeface="Roboto Mono"/>
              </a:rPr>
              <a:t>TimeSeriesSplit</a:t>
            </a:r>
            <a:r>
              <a:rPr lang="pt-BR" sz="1100">
                <a:solidFill>
                  <a:schemeClr val="dk1"/>
                </a:solidFill>
              </a:rPr>
              <a:t> funciona conforme esperamos, começando com a primeira divisão:</a:t>
            </a:r>
            <a:endParaRPr/>
          </a:p>
        </p:txBody>
      </p:sp>
      <p:pic>
        <p:nvPicPr>
          <p:cNvPr id="221" name="Google Shape;221;p44"/>
          <p:cNvPicPr preferRelativeResize="0"/>
          <p:nvPr/>
        </p:nvPicPr>
        <p:blipFill>
          <a:blip r:embed="rId3">
            <a:alphaModFix/>
          </a:blip>
          <a:stretch>
            <a:fillRect/>
          </a:stretch>
        </p:blipFill>
        <p:spPr>
          <a:xfrm>
            <a:off x="812813" y="902650"/>
            <a:ext cx="7518386" cy="3807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45"/>
          <p:cNvPicPr preferRelativeResize="0"/>
          <p:nvPr/>
        </p:nvPicPr>
        <p:blipFill>
          <a:blip r:embed="rId3">
            <a:alphaModFix/>
          </a:blip>
          <a:stretch>
            <a:fillRect/>
          </a:stretch>
        </p:blipFill>
        <p:spPr>
          <a:xfrm>
            <a:off x="152400" y="152400"/>
            <a:ext cx="8839202" cy="423205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46"/>
          <p:cNvPicPr preferRelativeResize="0"/>
          <p:nvPr/>
        </p:nvPicPr>
        <p:blipFill>
          <a:blip r:embed="rId3">
            <a:alphaModFix/>
          </a:blip>
          <a:stretch>
            <a:fillRect/>
          </a:stretch>
        </p:blipFill>
        <p:spPr>
          <a:xfrm>
            <a:off x="152400" y="662913"/>
            <a:ext cx="8839200" cy="381767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47"/>
          <p:cNvPicPr preferRelativeResize="0"/>
          <p:nvPr/>
        </p:nvPicPr>
        <p:blipFill>
          <a:blip r:embed="rId3">
            <a:alphaModFix/>
          </a:blip>
          <a:stretch>
            <a:fillRect/>
          </a:stretch>
        </p:blipFill>
        <p:spPr>
          <a:xfrm>
            <a:off x="738188" y="547688"/>
            <a:ext cx="7667625" cy="40481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48"/>
          <p:cNvPicPr preferRelativeResize="0"/>
          <p:nvPr/>
        </p:nvPicPr>
        <p:blipFill>
          <a:blip r:embed="rId3">
            <a:alphaModFix/>
          </a:blip>
          <a:stretch>
            <a:fillRect/>
          </a:stretch>
        </p:blipFill>
        <p:spPr>
          <a:xfrm>
            <a:off x="1423988" y="819150"/>
            <a:ext cx="6296025" cy="3505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49"/>
          <p:cNvPicPr preferRelativeResize="0"/>
          <p:nvPr/>
        </p:nvPicPr>
        <p:blipFill>
          <a:blip r:embed="rId3">
            <a:alphaModFix/>
          </a:blip>
          <a:stretch>
            <a:fillRect/>
          </a:stretch>
        </p:blipFill>
        <p:spPr>
          <a:xfrm>
            <a:off x="152400" y="858675"/>
            <a:ext cx="8839201" cy="335086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50"/>
          <p:cNvPicPr preferRelativeResize="0"/>
          <p:nvPr/>
        </p:nvPicPr>
        <p:blipFill>
          <a:blip r:embed="rId3">
            <a:alphaModFix/>
          </a:blip>
          <a:stretch>
            <a:fillRect/>
          </a:stretch>
        </p:blipFill>
        <p:spPr>
          <a:xfrm>
            <a:off x="804863" y="1214438"/>
            <a:ext cx="7534275" cy="27146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51"/>
          <p:cNvPicPr preferRelativeResize="0"/>
          <p:nvPr/>
        </p:nvPicPr>
        <p:blipFill>
          <a:blip r:embed="rId3">
            <a:alphaModFix/>
          </a:blip>
          <a:stretch>
            <a:fillRect/>
          </a:stretch>
        </p:blipFill>
        <p:spPr>
          <a:xfrm>
            <a:off x="738188" y="852488"/>
            <a:ext cx="7667625" cy="34385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52"/>
          <p:cNvPicPr preferRelativeResize="0"/>
          <p:nvPr/>
        </p:nvPicPr>
        <p:blipFill>
          <a:blip r:embed="rId3">
            <a:alphaModFix/>
          </a:blip>
          <a:stretch>
            <a:fillRect/>
          </a:stretch>
        </p:blipFill>
        <p:spPr>
          <a:xfrm>
            <a:off x="1541813" y="243375"/>
            <a:ext cx="6060375" cy="3775175"/>
          </a:xfrm>
          <a:prstGeom prst="rect">
            <a:avLst/>
          </a:prstGeom>
          <a:noFill/>
          <a:ln>
            <a:noFill/>
          </a:ln>
        </p:spPr>
      </p:pic>
      <p:pic>
        <p:nvPicPr>
          <p:cNvPr id="262" name="Google Shape;262;p52"/>
          <p:cNvPicPr preferRelativeResize="0"/>
          <p:nvPr/>
        </p:nvPicPr>
        <p:blipFill>
          <a:blip r:embed="rId4">
            <a:alphaModFix/>
          </a:blip>
          <a:stretch>
            <a:fillRect/>
          </a:stretch>
        </p:blipFill>
        <p:spPr>
          <a:xfrm>
            <a:off x="1638938" y="4079975"/>
            <a:ext cx="5866133" cy="987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53"/>
          <p:cNvPicPr preferRelativeResize="0"/>
          <p:nvPr/>
        </p:nvPicPr>
        <p:blipFill>
          <a:blip r:embed="rId3">
            <a:alphaModFix/>
          </a:blip>
          <a:stretch>
            <a:fillRect/>
          </a:stretch>
        </p:blipFill>
        <p:spPr>
          <a:xfrm>
            <a:off x="828675" y="998850"/>
            <a:ext cx="7486650" cy="33147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54"/>
          <p:cNvPicPr preferRelativeResize="0"/>
          <p:nvPr/>
        </p:nvPicPr>
        <p:blipFill>
          <a:blip r:embed="rId3">
            <a:alphaModFix/>
          </a:blip>
          <a:stretch>
            <a:fillRect/>
          </a:stretch>
        </p:blipFill>
        <p:spPr>
          <a:xfrm>
            <a:off x="2347913" y="942975"/>
            <a:ext cx="4448175" cy="32575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55"/>
          <p:cNvPicPr preferRelativeResize="0"/>
          <p:nvPr/>
        </p:nvPicPr>
        <p:blipFill>
          <a:blip r:embed="rId3">
            <a:alphaModFix/>
          </a:blip>
          <a:stretch>
            <a:fillRect/>
          </a:stretch>
        </p:blipFill>
        <p:spPr>
          <a:xfrm>
            <a:off x="971550" y="1195388"/>
            <a:ext cx="7200900" cy="2752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56"/>
          <p:cNvPicPr preferRelativeResize="0"/>
          <p:nvPr/>
        </p:nvPicPr>
        <p:blipFill>
          <a:blip r:embed="rId3">
            <a:alphaModFix/>
          </a:blip>
          <a:stretch>
            <a:fillRect/>
          </a:stretch>
        </p:blipFill>
        <p:spPr>
          <a:xfrm>
            <a:off x="1843088" y="366713"/>
            <a:ext cx="5457825" cy="44100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