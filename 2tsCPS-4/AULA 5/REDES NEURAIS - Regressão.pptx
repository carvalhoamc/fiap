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7" r:id="rId22"/>
    <p:sldId id="306" r:id="rId23"/>
    <p:sldId id="302" r:id="rId24"/>
    <p:sldId id="303" r:id="rId25"/>
    <p:sldId id="304" r:id="rId26"/>
    <p:sldId id="305" r:id="rId27"/>
    <p:sldId id="307" r:id="rId28"/>
    <p:sldId id="308" r:id="rId29"/>
    <p:sldId id="309" r:id="rId30"/>
    <p:sldId id="310" r:id="rId31"/>
    <p:sldId id="311" r:id="rId32"/>
    <p:sldId id="312" r:id="rId33"/>
    <p:sldId id="313" r:id="rId34"/>
    <p:sldId id="314"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Lst>
  <p:sldSz cx="9144000" cy="5143500" type="screen16x9"/>
  <p:notesSz cx="6858000" cy="9144000"/>
  <p:embeddedFontLst>
    <p:embeddedFont>
      <p:font typeface="Consolas" panose="020B0609020204030204" pitchFamily="49" charset="0"/>
      <p:regular r:id="rId51"/>
      <p:bold r:id="rId52"/>
      <p:italic r:id="rId53"/>
      <p:boldItalic r:id="rId54"/>
    </p:embeddedFont>
    <p:embeddedFont>
      <p:font typeface="Roboto Mono" panose="00000009000000000000" pitchFamily="49"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f8b90c5bb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f8b90c5bb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f8b90c5bb0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f8b90c5bb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f8b90c5bb0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f8b90c5bb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f8b90c5bb0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f8b90c5bb0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f8b90c5bb0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f8b90c5bb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f8b90c5bb0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f8b90c5bb0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f8b90c5bb0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f8b90c5bb0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f8b90c5bb0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f8b90c5bb0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f8b90c5bb0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f8b90c5bb0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f8b90c5bb0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f8b90c5bb0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f8b90c5bb0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f8b90c5bb0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f8b90c5bb0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f8b90c5bb0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f8b93e656a_1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f8b93e656a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f8b93e656a_1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f8b93e656a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f8b93e656a_1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f8b93e656a_1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f8b93e656a_1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f8b93e656a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f8b93e656a_1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f8b93e656a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f8b93e656a_1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f8b93e656a_1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f8b93e656a_1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f8b93e656a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f8b93e656a_1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f8b93e656a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f8b93e656a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f8b93e656a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f8b93e656a_1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f8b93e656a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f8b93e656a_1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f8b93e656a_1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f8b93e656a_1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f8b93e656a_1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f8b93e656a_1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f8b93e656a_1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f8b93e656a_1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f8b93e656a_1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f8b93e656a_1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f8b93e656a_1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f8b93e656a_1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f8b93e656a_1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f8b93e656a_1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f8b93e656a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f8b93e656a_1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f8b93e656a_1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f8b93e656a_1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f8b93e656a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f8b93e656a_1_1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f8b93e656a_1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f8b93e656a_1_1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f8b93e656a_1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f8b93e656a_1_1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f8b93e656a_1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pt-BR"/>
              <a:t>REDES NEURAIS</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pt-BR" dirty="0"/>
              <a:t>https://scikit-learn.org/stable/modules/neural_networks_supervised.html</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28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Regressão e Regularização</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pt-BR" sz="1100">
                <a:solidFill>
                  <a:schemeClr val="dk1"/>
                </a:solidFill>
              </a:rPr>
              <a:t>A classe </a:t>
            </a:r>
            <a:r>
              <a:rPr lang="pt-BR" sz="1100">
                <a:solidFill>
                  <a:srgbClr val="188038"/>
                </a:solidFill>
                <a:latin typeface="Roboto Mono"/>
                <a:ea typeface="Roboto Mono"/>
                <a:cs typeface="Roboto Mono"/>
                <a:sym typeface="Roboto Mono"/>
              </a:rPr>
              <a:t>MLPRegressor</a:t>
            </a:r>
            <a:r>
              <a:rPr lang="pt-BR" sz="1100">
                <a:solidFill>
                  <a:schemeClr val="dk1"/>
                </a:solidFill>
              </a:rPr>
              <a:t> implementa um perceptron multicamadas (MLP) que treina usando retropropagação sem função de ativação na camada de saída, o que também pode ser visto como o uso da função identidade como função de ativação. Portanto, utiliza o erro quadrático como função de perda, e a saída é um conjunto de valores contínuos.</a:t>
            </a:r>
            <a:endParaRPr sz="1100">
              <a:solidFill>
                <a:schemeClr val="dk1"/>
              </a:solidFill>
            </a:endParaRPr>
          </a:p>
          <a:p>
            <a:pPr marL="0" lvl="0" indent="0" algn="l" rtl="0">
              <a:spcBef>
                <a:spcPts val="1200"/>
              </a:spcBef>
              <a:spcAft>
                <a:spcPts val="0"/>
              </a:spcAft>
              <a:buNone/>
            </a:pPr>
            <a:r>
              <a:rPr lang="pt-BR" sz="1100">
                <a:solidFill>
                  <a:srgbClr val="188038"/>
                </a:solidFill>
                <a:latin typeface="Roboto Mono"/>
                <a:ea typeface="Roboto Mono"/>
                <a:cs typeface="Roboto Mono"/>
                <a:sym typeface="Roboto Mono"/>
              </a:rPr>
              <a:t>MLPRegressor</a:t>
            </a:r>
            <a:r>
              <a:rPr lang="pt-BR" sz="1100">
                <a:solidFill>
                  <a:schemeClr val="dk1"/>
                </a:solidFill>
              </a:rPr>
              <a:t> também suporta regressão multi-saída, na qual uma amostra pode ter mais de um alvo.</a:t>
            </a:r>
            <a:endParaRPr sz="1100">
              <a:solidFill>
                <a:schemeClr val="dk1"/>
              </a:solidFill>
            </a:endParaRPr>
          </a:p>
          <a:p>
            <a:pPr marL="0" lvl="0" indent="0" algn="l" rtl="0">
              <a:spcBef>
                <a:spcPts val="1200"/>
              </a:spcBef>
              <a:spcAft>
                <a:spcPts val="0"/>
              </a:spcAft>
              <a:buNone/>
            </a:pPr>
            <a:endParaRPr sz="1100">
              <a:solidFill>
                <a:schemeClr val="dk1"/>
              </a:solidFill>
            </a:endParaRPr>
          </a:p>
          <a:p>
            <a:pPr marL="0" lvl="0" indent="0" algn="l" rtl="0">
              <a:spcBef>
                <a:spcPts val="1400"/>
              </a:spcBef>
              <a:spcAft>
                <a:spcPts val="0"/>
              </a:spcAft>
              <a:buNone/>
            </a:pPr>
            <a:r>
              <a:rPr lang="pt-BR" sz="1300" b="1">
                <a:solidFill>
                  <a:schemeClr val="dk1"/>
                </a:solidFill>
              </a:rPr>
              <a:t>Regularização</a:t>
            </a:r>
            <a:endParaRPr sz="1300" b="1">
              <a:solidFill>
                <a:schemeClr val="dk1"/>
              </a:solidFill>
            </a:endParaRPr>
          </a:p>
          <a:p>
            <a:pPr marL="0" lvl="0" indent="0" algn="l" rtl="0">
              <a:spcBef>
                <a:spcPts val="1400"/>
              </a:spcBef>
              <a:spcAft>
                <a:spcPts val="400"/>
              </a:spcAft>
              <a:buClr>
                <a:schemeClr val="dk1"/>
              </a:buClr>
              <a:buSzPts val="1100"/>
              <a:buFont typeface="Arial"/>
              <a:buNone/>
            </a:pPr>
            <a:r>
              <a:rPr lang="pt-BR" sz="1100">
                <a:solidFill>
                  <a:schemeClr val="dk1"/>
                </a:solidFill>
              </a:rPr>
              <a:t>Tanto </a:t>
            </a:r>
            <a:r>
              <a:rPr lang="pt-BR" sz="1100">
                <a:solidFill>
                  <a:srgbClr val="188038"/>
                </a:solidFill>
                <a:latin typeface="Roboto Mono"/>
                <a:ea typeface="Roboto Mono"/>
                <a:cs typeface="Roboto Mono"/>
                <a:sym typeface="Roboto Mono"/>
              </a:rPr>
              <a:t>MLPRegressor</a:t>
            </a:r>
            <a:r>
              <a:rPr lang="pt-BR" sz="1100">
                <a:solidFill>
                  <a:schemeClr val="dk1"/>
                </a:solidFill>
              </a:rPr>
              <a:t> quanto </a:t>
            </a:r>
            <a:r>
              <a:rPr lang="pt-BR" sz="1100">
                <a:solidFill>
                  <a:srgbClr val="188038"/>
                </a:solidFill>
                <a:latin typeface="Roboto Mono"/>
                <a:ea typeface="Roboto Mono"/>
                <a:cs typeface="Roboto Mono"/>
                <a:sym typeface="Roboto Mono"/>
              </a:rPr>
              <a:t>MLPClassifier</a:t>
            </a:r>
            <a:r>
              <a:rPr lang="pt-BR" sz="1100">
                <a:solidFill>
                  <a:schemeClr val="dk1"/>
                </a:solidFill>
              </a:rPr>
              <a:t> usam o parâmetro </a:t>
            </a:r>
            <a:r>
              <a:rPr lang="pt-BR" sz="1100">
                <a:solidFill>
                  <a:srgbClr val="188038"/>
                </a:solidFill>
                <a:latin typeface="Roboto Mono"/>
                <a:ea typeface="Roboto Mono"/>
                <a:cs typeface="Roboto Mono"/>
                <a:sym typeface="Roboto Mono"/>
              </a:rPr>
              <a:t>alpha</a:t>
            </a:r>
            <a:r>
              <a:rPr lang="pt-BR" sz="1100">
                <a:solidFill>
                  <a:schemeClr val="dk1"/>
                </a:solidFill>
              </a:rPr>
              <a:t> para o termo de regularização (regularização L2) que ajuda a evitar overfitting penalizando pesos com grandes magnitudes. O gráfico a seguir exibe a variação da função de decisão com o valor de alpha.</a:t>
            </a:r>
            <a:endParaRPr sz="1300" b="1">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52400" y="152400"/>
            <a:ext cx="8648700" cy="4391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pic>
        <p:nvPicPr>
          <p:cNvPr id="71" name="Google Shape;71;p16"/>
          <p:cNvPicPr preferRelativeResize="0"/>
          <p:nvPr/>
        </p:nvPicPr>
        <p:blipFill>
          <a:blip r:embed="rId3">
            <a:alphaModFix/>
          </a:blip>
          <a:stretch>
            <a:fillRect/>
          </a:stretch>
        </p:blipFill>
        <p:spPr>
          <a:xfrm>
            <a:off x="1019175" y="600075"/>
            <a:ext cx="7105650" cy="3943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7"/>
          <p:cNvPicPr preferRelativeResize="0"/>
          <p:nvPr/>
        </p:nvPicPr>
        <p:blipFill>
          <a:blip r:embed="rId3">
            <a:alphaModFix/>
          </a:blip>
          <a:stretch>
            <a:fillRect/>
          </a:stretch>
        </p:blipFill>
        <p:spPr>
          <a:xfrm>
            <a:off x="914400" y="900113"/>
            <a:ext cx="7315200" cy="3343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8"/>
          <p:cNvPicPr preferRelativeResize="0"/>
          <p:nvPr/>
        </p:nvPicPr>
        <p:blipFill>
          <a:blip r:embed="rId3">
            <a:alphaModFix/>
          </a:blip>
          <a:stretch>
            <a:fillRect/>
          </a:stretch>
        </p:blipFill>
        <p:spPr>
          <a:xfrm>
            <a:off x="1263913" y="152400"/>
            <a:ext cx="6616182" cy="483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9"/>
          <p:cNvPicPr preferRelativeResize="0"/>
          <p:nvPr/>
        </p:nvPicPr>
        <p:blipFill>
          <a:blip r:embed="rId3">
            <a:alphaModFix/>
          </a:blip>
          <a:stretch>
            <a:fillRect/>
          </a:stretch>
        </p:blipFill>
        <p:spPr>
          <a:xfrm>
            <a:off x="981075" y="376238"/>
            <a:ext cx="7181850" cy="4391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20"/>
          <p:cNvPicPr preferRelativeResize="0"/>
          <p:nvPr/>
        </p:nvPicPr>
        <p:blipFill>
          <a:blip r:embed="rId3">
            <a:alphaModFix/>
          </a:blip>
          <a:stretch>
            <a:fillRect/>
          </a:stretch>
        </p:blipFill>
        <p:spPr>
          <a:xfrm>
            <a:off x="1414463" y="1628775"/>
            <a:ext cx="6315075" cy="1885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pt-BR"/>
              <a:t>Exemplo do uso de Redes Neurais em problemas de Regressão</a:t>
            </a:r>
            <a:endParaRPr/>
          </a:p>
        </p:txBody>
      </p:sp>
      <p:sp>
        <p:nvSpPr>
          <p:cNvPr id="97" name="Google Shape;97;p2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55000" lnSpcReduction="20000"/>
          </a:bodyPr>
          <a:lstStyle/>
          <a:p>
            <a:pPr marL="0" lvl="0" indent="0" algn="ctr" rtl="0">
              <a:spcBef>
                <a:spcPts val="0"/>
              </a:spcBef>
              <a:spcAft>
                <a:spcPts val="0"/>
              </a:spcAft>
              <a:buNone/>
            </a:pPr>
            <a:r>
              <a:rPr lang="pt-BR"/>
              <a:t>https://scikit-learn.org/stable/auto_examples/applications/plot_cyclical_feature_engineering.html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22"/>
          <p:cNvPicPr preferRelativeResize="0"/>
          <p:nvPr/>
        </p:nvPicPr>
        <p:blipFill>
          <a:blip r:embed="rId3">
            <a:alphaModFix/>
          </a:blip>
          <a:stretch>
            <a:fillRect/>
          </a:stretch>
        </p:blipFill>
        <p:spPr>
          <a:xfrm>
            <a:off x="152400" y="152400"/>
            <a:ext cx="8839202" cy="47533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08" name="Google Shape;108;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pt-BR"/>
              <a:t>Para obter uma compreensão rápida dos padrões periódicos dos dados, vamos analisar a demanda média por hora durante uma semana.</a:t>
            </a:r>
            <a:endParaRPr/>
          </a:p>
          <a:p>
            <a:pPr marL="0" lvl="0" indent="0" algn="l" rtl="0">
              <a:spcBef>
                <a:spcPts val="1200"/>
              </a:spcBef>
              <a:spcAft>
                <a:spcPts val="0"/>
              </a:spcAft>
              <a:buClr>
                <a:schemeClr val="dk1"/>
              </a:buClr>
              <a:buSzPts val="1100"/>
              <a:buFont typeface="Arial"/>
              <a:buNone/>
            </a:pPr>
            <a:r>
              <a:rPr lang="pt-BR"/>
              <a:t>Note que a semana começa em um domingo, durante o fim de semana. Podemos distinguir claramente os padrões de deslocamento (commute) nas manhãs e noites dos dias úteis e o uso recreativo das bicicletas nos fins de semana com uma demanda de pico mais distribuída ao redor do meio do dia:</a:t>
            </a:r>
            <a:endParaRPr/>
          </a:p>
          <a:p>
            <a:pPr marL="0" lvl="0" indent="0" algn="l" rtl="0">
              <a:spcBef>
                <a:spcPts val="1200"/>
              </a:spcBef>
              <a:spcAft>
                <a:spcPts val="120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24"/>
          <p:cNvPicPr preferRelativeResize="0"/>
          <p:nvPr/>
        </p:nvPicPr>
        <p:blipFill>
          <a:blip r:embed="rId3">
            <a:alphaModFix/>
          </a:blip>
          <a:stretch>
            <a:fillRect/>
          </a:stretch>
        </p:blipFill>
        <p:spPr>
          <a:xfrm>
            <a:off x="714113" y="152400"/>
            <a:ext cx="7715765" cy="483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5"/>
          <p:cNvSpPr txBox="1"/>
          <p:nvPr/>
        </p:nvSpPr>
        <p:spPr>
          <a:xfrm>
            <a:off x="255400" y="347300"/>
            <a:ext cx="86994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3000"/>
              <a:t>O alvo do problema de predição é a contagem absoluta de aluguéis de bicicletas em base horária:</a:t>
            </a:r>
            <a:endParaRPr sz="3000"/>
          </a:p>
        </p:txBody>
      </p:sp>
      <p:pic>
        <p:nvPicPr>
          <p:cNvPr id="119" name="Google Shape;119;p25"/>
          <p:cNvPicPr preferRelativeResize="0"/>
          <p:nvPr/>
        </p:nvPicPr>
        <p:blipFill>
          <a:blip r:embed="rId3">
            <a:alphaModFix/>
          </a:blip>
          <a:stretch>
            <a:fillRect/>
          </a:stretch>
        </p:blipFill>
        <p:spPr>
          <a:xfrm>
            <a:off x="2952750" y="2645825"/>
            <a:ext cx="3238500" cy="1752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6"/>
          <p:cNvSpPr txBox="1"/>
          <p:nvPr/>
        </p:nvSpPr>
        <p:spPr>
          <a:xfrm>
            <a:off x="0" y="0"/>
            <a:ext cx="9144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a:t>Vamos redimensionar a variável alvo (número de aluguéis de bicicletas por hora) para prever uma demanda relativa de modo que o erro absoluto médio seja mais facilmente interpretado como uma fração da demanda máxima.</a:t>
            </a:r>
            <a:endParaRPr/>
          </a:p>
        </p:txBody>
      </p:sp>
      <p:pic>
        <p:nvPicPr>
          <p:cNvPr id="125" name="Google Shape;125;p26"/>
          <p:cNvPicPr preferRelativeResize="0"/>
          <p:nvPr/>
        </p:nvPicPr>
        <p:blipFill>
          <a:blip r:embed="rId3">
            <a:alphaModFix/>
          </a:blip>
          <a:stretch>
            <a:fillRect/>
          </a:stretch>
        </p:blipFill>
        <p:spPr>
          <a:xfrm>
            <a:off x="3082413" y="831300"/>
            <a:ext cx="2979186" cy="40074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7"/>
          <p:cNvPicPr preferRelativeResize="0"/>
          <p:nvPr/>
        </p:nvPicPr>
        <p:blipFill>
          <a:blip r:embed="rId3">
            <a:alphaModFix/>
          </a:blip>
          <a:stretch>
            <a:fillRect/>
          </a:stretch>
        </p:blipFill>
        <p:spPr>
          <a:xfrm>
            <a:off x="152400" y="152400"/>
            <a:ext cx="8839198" cy="441217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8"/>
          <p:cNvSpPr txBox="1"/>
          <p:nvPr/>
        </p:nvSpPr>
        <p:spPr>
          <a:xfrm>
            <a:off x="0" y="0"/>
            <a:ext cx="9144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a:t>O dataframe de características de entrada é um registro horário anotado temporalmente de variáveis descrevendo as condições climáticas. Inclui tanto variáveis numéricas quanto categóricas. Observe que a informação de tempo já foi expandida em várias colunas complementares.</a:t>
            </a:r>
            <a:endParaRPr/>
          </a:p>
        </p:txBody>
      </p:sp>
      <p:pic>
        <p:nvPicPr>
          <p:cNvPr id="136" name="Google Shape;136;p28"/>
          <p:cNvPicPr preferRelativeResize="0"/>
          <p:nvPr/>
        </p:nvPicPr>
        <p:blipFill>
          <a:blip r:embed="rId3">
            <a:alphaModFix/>
          </a:blip>
          <a:stretch>
            <a:fillRect/>
          </a:stretch>
        </p:blipFill>
        <p:spPr>
          <a:xfrm>
            <a:off x="524238" y="901025"/>
            <a:ext cx="8095535" cy="4007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9"/>
          <p:cNvSpPr txBox="1"/>
          <p:nvPr/>
        </p:nvSpPr>
        <p:spPr>
          <a:xfrm>
            <a:off x="0" y="0"/>
            <a:ext cx="90963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100">
                <a:solidFill>
                  <a:schemeClr val="dk1"/>
                </a:solidFill>
              </a:rPr>
              <a:t>Agora fazemos uma introspecção da distribuição das variáveis categóricas, começando com </a:t>
            </a:r>
            <a:r>
              <a:rPr lang="pt-BR" sz="1100">
                <a:solidFill>
                  <a:srgbClr val="188038"/>
                </a:solidFill>
                <a:latin typeface="Roboto Mono"/>
                <a:ea typeface="Roboto Mono"/>
                <a:cs typeface="Roboto Mono"/>
                <a:sym typeface="Roboto Mono"/>
              </a:rPr>
              <a:t>"weather"</a:t>
            </a:r>
            <a:r>
              <a:rPr lang="pt-BR" sz="1100">
                <a:solidFill>
                  <a:schemeClr val="dk1"/>
                </a:solidFill>
              </a:rPr>
              <a:t>:</a:t>
            </a:r>
            <a:endParaRPr/>
          </a:p>
        </p:txBody>
      </p:sp>
      <p:pic>
        <p:nvPicPr>
          <p:cNvPr id="142" name="Google Shape;142;p29"/>
          <p:cNvPicPr preferRelativeResize="0"/>
          <p:nvPr/>
        </p:nvPicPr>
        <p:blipFill>
          <a:blip r:embed="rId3">
            <a:alphaModFix/>
          </a:blip>
          <a:stretch>
            <a:fillRect/>
          </a:stretch>
        </p:blipFill>
        <p:spPr>
          <a:xfrm>
            <a:off x="2881313" y="985825"/>
            <a:ext cx="3381375" cy="3171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30"/>
          <p:cNvSpPr txBox="1"/>
          <p:nvPr/>
        </p:nvSpPr>
        <p:spPr>
          <a:xfrm>
            <a:off x="0" y="0"/>
            <a:ext cx="91440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100">
                <a:solidFill>
                  <a:schemeClr val="dk1"/>
                </a:solidFill>
              </a:rPr>
              <a:t>Como há apenas 3 eventos de </a:t>
            </a:r>
            <a:r>
              <a:rPr lang="pt-BR" sz="1100">
                <a:solidFill>
                  <a:srgbClr val="188038"/>
                </a:solidFill>
                <a:latin typeface="Roboto Mono"/>
                <a:ea typeface="Roboto Mono"/>
                <a:cs typeface="Roboto Mono"/>
                <a:sym typeface="Roboto Mono"/>
              </a:rPr>
              <a:t>"heavy_rain"</a:t>
            </a:r>
            <a:r>
              <a:rPr lang="pt-BR" sz="1100">
                <a:solidFill>
                  <a:schemeClr val="dk1"/>
                </a:solidFill>
              </a:rPr>
              <a:t>, não podemos usar esta categoria para treinar modelos de aprendizado de máquina com validação cruzada. Em vez disso, simplificamos a representação integrando-as na categoria </a:t>
            </a:r>
            <a:r>
              <a:rPr lang="pt-BR" sz="1100">
                <a:solidFill>
                  <a:srgbClr val="188038"/>
                </a:solidFill>
                <a:latin typeface="Roboto Mono"/>
                <a:ea typeface="Roboto Mono"/>
                <a:cs typeface="Roboto Mono"/>
                <a:sym typeface="Roboto Mono"/>
              </a:rPr>
              <a:t>"rain"</a:t>
            </a:r>
            <a:r>
              <a:rPr lang="pt-BR" sz="1100">
                <a:solidFill>
                  <a:schemeClr val="dk1"/>
                </a:solidFill>
              </a:rPr>
              <a:t>.</a:t>
            </a:r>
            <a:endParaRPr/>
          </a:p>
        </p:txBody>
      </p:sp>
      <p:pic>
        <p:nvPicPr>
          <p:cNvPr id="148" name="Google Shape;148;p30"/>
          <p:cNvPicPr preferRelativeResize="0"/>
          <p:nvPr/>
        </p:nvPicPr>
        <p:blipFill>
          <a:blip r:embed="rId3">
            <a:alphaModFix/>
          </a:blip>
          <a:stretch>
            <a:fillRect/>
          </a:stretch>
        </p:blipFill>
        <p:spPr>
          <a:xfrm>
            <a:off x="206725" y="968075"/>
            <a:ext cx="5633099" cy="3497350"/>
          </a:xfrm>
          <a:prstGeom prst="rect">
            <a:avLst/>
          </a:prstGeom>
          <a:noFill/>
          <a:ln>
            <a:noFill/>
          </a:ln>
        </p:spPr>
      </p:pic>
      <p:pic>
        <p:nvPicPr>
          <p:cNvPr id="149" name="Google Shape;149;p30"/>
          <p:cNvPicPr preferRelativeResize="0"/>
          <p:nvPr/>
        </p:nvPicPr>
        <p:blipFill>
          <a:blip r:embed="rId4">
            <a:alphaModFix/>
          </a:blip>
          <a:stretch>
            <a:fillRect/>
          </a:stretch>
        </p:blipFill>
        <p:spPr>
          <a:xfrm>
            <a:off x="6091474" y="1481713"/>
            <a:ext cx="2999376" cy="24700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p31"/>
          <p:cNvPicPr preferRelativeResize="0"/>
          <p:nvPr/>
        </p:nvPicPr>
        <p:blipFill>
          <a:blip r:embed="rId3">
            <a:alphaModFix/>
          </a:blip>
          <a:stretch>
            <a:fillRect/>
          </a:stretch>
        </p:blipFill>
        <p:spPr>
          <a:xfrm>
            <a:off x="2762250" y="881063"/>
            <a:ext cx="3619500" cy="3381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2"/>
          <p:cNvSpPr txBox="1"/>
          <p:nvPr/>
        </p:nvSpPr>
        <p:spPr>
          <a:xfrm>
            <a:off x="0" y="0"/>
            <a:ext cx="9144000" cy="1865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pt-BR" sz="1300" b="1">
                <a:solidFill>
                  <a:schemeClr val="dk1"/>
                </a:solidFill>
              </a:rPr>
              <a:t>Validação Cruzada Baseada em Tempo</a:t>
            </a:r>
            <a:endParaRPr sz="1300" b="1">
              <a:solidFill>
                <a:schemeClr val="dk1"/>
              </a:solidFill>
            </a:endParaRPr>
          </a:p>
          <a:p>
            <a:pPr marL="0" lvl="0" indent="0" algn="l" rtl="0">
              <a:lnSpc>
                <a:spcPct val="115000"/>
              </a:lnSpc>
              <a:spcBef>
                <a:spcPts val="1200"/>
              </a:spcBef>
              <a:spcAft>
                <a:spcPts val="0"/>
              </a:spcAft>
              <a:buNone/>
            </a:pPr>
            <a:r>
              <a:rPr lang="pt-BR" sz="1100">
                <a:solidFill>
                  <a:schemeClr val="dk1"/>
                </a:solidFill>
              </a:rPr>
              <a:t>Como o conjunto de dados é um registro de eventos ordenado temporalmente (demanda por hora), usaremos um divisor de validação cruzada sensível ao tempo para avaliar nosso modelo de previsão de demanda da forma mais realista possível. Usamos um intervalo de 2 dias entre os lados de treinamento e teste das divisões. Também limitamos o tamanho do conjunto de treinamento para tornar o desempenho dos folds de validação cruzada mais estável.</a:t>
            </a:r>
            <a:endParaRPr sz="1100">
              <a:solidFill>
                <a:schemeClr val="dk1"/>
              </a:solidFill>
            </a:endParaRPr>
          </a:p>
          <a:p>
            <a:pPr marL="0" lvl="0" indent="0" algn="l" rtl="0">
              <a:lnSpc>
                <a:spcPct val="115000"/>
              </a:lnSpc>
              <a:spcBef>
                <a:spcPts val="1200"/>
              </a:spcBef>
              <a:spcAft>
                <a:spcPts val="1200"/>
              </a:spcAft>
              <a:buNone/>
            </a:pPr>
            <a:r>
              <a:rPr lang="pt-BR" sz="1100">
                <a:solidFill>
                  <a:schemeClr val="dk1"/>
                </a:solidFill>
              </a:rPr>
              <a:t>1000 pontos de dados de teste devem ser suficientes para quantificar o desempenho do modelo. Isso representa um pouco menos de um mês e meio de dados de teste contíguos:</a:t>
            </a:r>
            <a:endParaRPr sz="1100">
              <a:solidFill>
                <a:schemeClr val="dk1"/>
              </a:solidFill>
            </a:endParaRPr>
          </a:p>
        </p:txBody>
      </p:sp>
      <p:pic>
        <p:nvPicPr>
          <p:cNvPr id="160" name="Google Shape;160;p32"/>
          <p:cNvPicPr preferRelativeResize="0"/>
          <p:nvPr/>
        </p:nvPicPr>
        <p:blipFill>
          <a:blip r:embed="rId3">
            <a:alphaModFix/>
          </a:blip>
          <a:stretch>
            <a:fillRect/>
          </a:stretch>
        </p:blipFill>
        <p:spPr>
          <a:xfrm>
            <a:off x="823913" y="1794550"/>
            <a:ext cx="7496175" cy="2724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44"/>
          <p:cNvSpPr txBox="1"/>
          <p:nvPr/>
        </p:nvSpPr>
        <p:spPr>
          <a:xfrm>
            <a:off x="0" y="0"/>
            <a:ext cx="91440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100">
                <a:solidFill>
                  <a:schemeClr val="dk1"/>
                </a:solidFill>
              </a:rPr>
              <a:t>Vamos inspecionar manualmente as várias divisões para verificar que o </a:t>
            </a:r>
            <a:r>
              <a:rPr lang="pt-BR" sz="1100">
                <a:solidFill>
                  <a:srgbClr val="188038"/>
                </a:solidFill>
                <a:latin typeface="Roboto Mono"/>
                <a:ea typeface="Roboto Mono"/>
                <a:cs typeface="Roboto Mono"/>
                <a:sym typeface="Roboto Mono"/>
              </a:rPr>
              <a:t>TimeSeriesSplit</a:t>
            </a:r>
            <a:r>
              <a:rPr lang="pt-BR" sz="1100">
                <a:solidFill>
                  <a:schemeClr val="dk1"/>
                </a:solidFill>
              </a:rPr>
              <a:t> funciona conforme esperamos, começando com a primeira divisão:</a:t>
            </a:r>
            <a:endParaRPr/>
          </a:p>
        </p:txBody>
      </p:sp>
      <p:pic>
        <p:nvPicPr>
          <p:cNvPr id="221" name="Google Shape;221;p44"/>
          <p:cNvPicPr preferRelativeResize="0"/>
          <p:nvPr/>
        </p:nvPicPr>
        <p:blipFill>
          <a:blip r:embed="rId3">
            <a:alphaModFix/>
          </a:blip>
          <a:stretch>
            <a:fillRect/>
          </a:stretch>
        </p:blipFill>
        <p:spPr>
          <a:xfrm>
            <a:off x="812813" y="902650"/>
            <a:ext cx="7518386" cy="3807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62CB3E-FFE9-979A-F5AD-3F69D8D31F06}"/>
              </a:ext>
            </a:extLst>
          </p:cNvPr>
          <p:cNvSpPr>
            <a:spLocks noGrp="1"/>
          </p:cNvSpPr>
          <p:nvPr>
            <p:ph type="title"/>
          </p:nvPr>
        </p:nvSpPr>
        <p:spPr/>
        <p:txBody>
          <a:bodyPr/>
          <a:lstStyle/>
          <a:p>
            <a:r>
              <a:rPr lang="pt-BR" dirty="0"/>
              <a:t>TIME SERIES SPLIT</a:t>
            </a:r>
          </a:p>
        </p:txBody>
      </p:sp>
    </p:spTree>
    <p:extLst>
      <p:ext uri="{BB962C8B-B14F-4D97-AF65-F5344CB8AC3E}">
        <p14:creationId xmlns:p14="http://schemas.microsoft.com/office/powerpoint/2010/main" val="1836142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6B9F66CB-D3F7-4402-BD9F-ABB06A4CF8BE}"/>
              </a:ext>
            </a:extLst>
          </p:cNvPr>
          <p:cNvSpPr/>
          <p:nvPr/>
        </p:nvSpPr>
        <p:spPr>
          <a:xfrm>
            <a:off x="457200" y="406400"/>
            <a:ext cx="76200" cy="5588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 name="CaixaDeTexto 2">
            <a:extLst>
              <a:ext uri="{FF2B5EF4-FFF2-40B4-BE49-F238E27FC236}">
                <a16:creationId xmlns:a16="http://schemas.microsoft.com/office/drawing/2014/main" id="{BCFB20F3-3DB5-470A-B69D-2527D06BD67F}"/>
              </a:ext>
            </a:extLst>
          </p:cNvPr>
          <p:cNvSpPr txBox="1"/>
          <p:nvPr/>
        </p:nvSpPr>
        <p:spPr>
          <a:xfrm>
            <a:off x="660400" y="355600"/>
            <a:ext cx="8026400" cy="584200"/>
          </a:xfrm>
          <a:prstGeom prst="rect">
            <a:avLst/>
          </a:prstGeom>
          <a:noFill/>
        </p:spPr>
        <p:txBody>
          <a:bodyPr vertOverflow="overflow" vert="horz" wrap="square" rtlCol="0" anchor="t" anchorCtr="0">
            <a:spAutoFit/>
          </a:bodyPr>
          <a:lstStyle/>
          <a:p>
            <a:pPr algn="l"/>
            <a:r>
              <a:rPr lang="pt-BR" sz="2400" b="1">
                <a:solidFill>
                  <a:srgbClr val="212121"/>
                </a:solidFill>
              </a:rPr>
              <a:t>O problema: a validação cruzada comum vaza o futuro</a:t>
            </a:r>
          </a:p>
        </p:txBody>
      </p:sp>
      <p:sp>
        <p:nvSpPr>
          <p:cNvPr id="4" name="CaixaDeTexto 3">
            <a:extLst>
              <a:ext uri="{FF2B5EF4-FFF2-40B4-BE49-F238E27FC236}">
                <a16:creationId xmlns:a16="http://schemas.microsoft.com/office/drawing/2014/main" id="{8416A12D-51DD-4036-B13F-E4447C795695}"/>
              </a:ext>
            </a:extLst>
          </p:cNvPr>
          <p:cNvSpPr txBox="1"/>
          <p:nvPr/>
        </p:nvSpPr>
        <p:spPr>
          <a:xfrm>
            <a:off x="558800" y="1219200"/>
            <a:ext cx="203200" cy="381000"/>
          </a:xfrm>
          <a:prstGeom prst="rect">
            <a:avLst/>
          </a:prstGeom>
          <a:noFill/>
        </p:spPr>
        <p:txBody>
          <a:bodyPr vertOverflow="overflow" vert="horz" wrap="square" rtlCol="0" anchor="t">
            <a:spAutoFit/>
          </a:bodyPr>
          <a:lstStyle/>
          <a:p>
            <a:pPr algn="l"/>
            <a:r>
              <a:rPr lang="pt-BR" sz="1600" b="1">
                <a:solidFill>
                  <a:srgbClr val="4285F4"/>
                </a:solidFill>
              </a:rPr>
              <a:t>•</a:t>
            </a:r>
          </a:p>
        </p:txBody>
      </p:sp>
      <p:sp>
        <p:nvSpPr>
          <p:cNvPr id="5" name="CaixaDeTexto 4">
            <a:extLst>
              <a:ext uri="{FF2B5EF4-FFF2-40B4-BE49-F238E27FC236}">
                <a16:creationId xmlns:a16="http://schemas.microsoft.com/office/drawing/2014/main" id="{05470170-5A77-4920-965F-B7CAC0525567}"/>
              </a:ext>
            </a:extLst>
          </p:cNvPr>
          <p:cNvSpPr txBox="1"/>
          <p:nvPr/>
        </p:nvSpPr>
        <p:spPr>
          <a:xfrm>
            <a:off x="812800" y="1219200"/>
            <a:ext cx="7620000" cy="609600"/>
          </a:xfrm>
          <a:prstGeom prst="rect">
            <a:avLst/>
          </a:prstGeom>
          <a:noFill/>
        </p:spPr>
        <p:txBody>
          <a:bodyPr vertOverflow="overflow" vert="horz" wrap="square" rtlCol="0" anchor="t" anchorCtr="0">
            <a:spAutoFit/>
          </a:bodyPr>
          <a:lstStyle/>
          <a:p>
            <a:pPr algn="l"/>
            <a:r>
              <a:rPr lang="pt-BR" sz="1600">
                <a:solidFill>
                  <a:srgbClr val="37474F"/>
                </a:solidFill>
              </a:rPr>
              <a:t>Em séries temporais a ordem importa: cada ponto depende do passado.</a:t>
            </a:r>
          </a:p>
        </p:txBody>
      </p:sp>
      <p:sp>
        <p:nvSpPr>
          <p:cNvPr id="6" name="CaixaDeTexto 5">
            <a:extLst>
              <a:ext uri="{FF2B5EF4-FFF2-40B4-BE49-F238E27FC236}">
                <a16:creationId xmlns:a16="http://schemas.microsoft.com/office/drawing/2014/main" id="{4C6D9B7F-4BB8-41A4-A214-A96D013BDDFF}"/>
              </a:ext>
            </a:extLst>
          </p:cNvPr>
          <p:cNvSpPr txBox="1"/>
          <p:nvPr/>
        </p:nvSpPr>
        <p:spPr>
          <a:xfrm>
            <a:off x="558800" y="1778000"/>
            <a:ext cx="203200" cy="381000"/>
          </a:xfrm>
          <a:prstGeom prst="rect">
            <a:avLst/>
          </a:prstGeom>
          <a:noFill/>
        </p:spPr>
        <p:txBody>
          <a:bodyPr vertOverflow="overflow" vert="horz" wrap="square" rtlCol="0" anchor="t">
            <a:spAutoFit/>
          </a:bodyPr>
          <a:lstStyle/>
          <a:p>
            <a:pPr algn="l"/>
            <a:r>
              <a:rPr lang="pt-BR" sz="1600" b="1">
                <a:solidFill>
                  <a:srgbClr val="4285F4"/>
                </a:solidFill>
              </a:rPr>
              <a:t>•</a:t>
            </a:r>
          </a:p>
        </p:txBody>
      </p:sp>
      <p:sp>
        <p:nvSpPr>
          <p:cNvPr id="7" name="CaixaDeTexto 6">
            <a:extLst>
              <a:ext uri="{FF2B5EF4-FFF2-40B4-BE49-F238E27FC236}">
                <a16:creationId xmlns:a16="http://schemas.microsoft.com/office/drawing/2014/main" id="{955D3097-82C0-4282-A7F1-049546F6DEAB}"/>
              </a:ext>
            </a:extLst>
          </p:cNvPr>
          <p:cNvSpPr txBox="1"/>
          <p:nvPr/>
        </p:nvSpPr>
        <p:spPr>
          <a:xfrm>
            <a:off x="812800" y="1778000"/>
            <a:ext cx="7620000" cy="609600"/>
          </a:xfrm>
          <a:prstGeom prst="rect">
            <a:avLst/>
          </a:prstGeom>
          <a:noFill/>
        </p:spPr>
        <p:txBody>
          <a:bodyPr vertOverflow="overflow" vert="horz" wrap="square" rtlCol="0" anchor="t" anchorCtr="0">
            <a:spAutoFit/>
          </a:bodyPr>
          <a:lstStyle/>
          <a:p>
            <a:pPr algn="l"/>
            <a:r>
              <a:rPr lang="pt-BR" sz="1600">
                <a:solidFill>
                  <a:srgbClr val="37474F"/>
                </a:solidFill>
              </a:rPr>
              <a:t>K-Fold e train_test_split embaralham os dados — o modelo acaba treinando com o futuro e testando no passado.</a:t>
            </a:r>
          </a:p>
        </p:txBody>
      </p:sp>
      <p:sp>
        <p:nvSpPr>
          <p:cNvPr id="8" name="CaixaDeTexto 7">
            <a:extLst>
              <a:ext uri="{FF2B5EF4-FFF2-40B4-BE49-F238E27FC236}">
                <a16:creationId xmlns:a16="http://schemas.microsoft.com/office/drawing/2014/main" id="{93B52B68-7038-4CDA-9647-42C0983ECDA3}"/>
              </a:ext>
            </a:extLst>
          </p:cNvPr>
          <p:cNvSpPr txBox="1"/>
          <p:nvPr/>
        </p:nvSpPr>
        <p:spPr>
          <a:xfrm>
            <a:off x="558800" y="2540000"/>
            <a:ext cx="203200" cy="381000"/>
          </a:xfrm>
          <a:prstGeom prst="rect">
            <a:avLst/>
          </a:prstGeom>
          <a:noFill/>
        </p:spPr>
        <p:txBody>
          <a:bodyPr vertOverflow="overflow" vert="horz" wrap="square" rtlCol="0" anchor="t">
            <a:spAutoFit/>
          </a:bodyPr>
          <a:lstStyle/>
          <a:p>
            <a:pPr algn="l"/>
            <a:r>
              <a:rPr lang="pt-BR" sz="1600" b="1">
                <a:solidFill>
                  <a:srgbClr val="4285F4"/>
                </a:solidFill>
              </a:rPr>
              <a:t>•</a:t>
            </a:r>
          </a:p>
        </p:txBody>
      </p:sp>
      <p:sp>
        <p:nvSpPr>
          <p:cNvPr id="9" name="CaixaDeTexto 8">
            <a:extLst>
              <a:ext uri="{FF2B5EF4-FFF2-40B4-BE49-F238E27FC236}">
                <a16:creationId xmlns:a16="http://schemas.microsoft.com/office/drawing/2014/main" id="{18A71EB4-6BF2-434C-B050-9B416C74D1AE}"/>
              </a:ext>
            </a:extLst>
          </p:cNvPr>
          <p:cNvSpPr txBox="1"/>
          <p:nvPr/>
        </p:nvSpPr>
        <p:spPr>
          <a:xfrm>
            <a:off x="812800" y="2540000"/>
            <a:ext cx="7620000" cy="609600"/>
          </a:xfrm>
          <a:prstGeom prst="rect">
            <a:avLst/>
          </a:prstGeom>
          <a:noFill/>
        </p:spPr>
        <p:txBody>
          <a:bodyPr vertOverflow="overflow" vert="horz" wrap="square" rtlCol="0" anchor="t" anchorCtr="0">
            <a:spAutoFit/>
          </a:bodyPr>
          <a:lstStyle/>
          <a:p>
            <a:pPr algn="l"/>
            <a:r>
              <a:rPr lang="pt-BR" sz="1600">
                <a:solidFill>
                  <a:srgbClr val="37474F"/>
                </a:solidFill>
              </a:rPr>
              <a:t>Isso gera data leakage: métricas otimistas que não se repetem em produção.</a:t>
            </a:r>
          </a:p>
        </p:txBody>
      </p:sp>
      <p:sp>
        <p:nvSpPr>
          <p:cNvPr id="10" name="CaixaDeTexto 9">
            <a:extLst>
              <a:ext uri="{FF2B5EF4-FFF2-40B4-BE49-F238E27FC236}">
                <a16:creationId xmlns:a16="http://schemas.microsoft.com/office/drawing/2014/main" id="{F365D052-3C14-403F-833E-07D0F3B004AB}"/>
              </a:ext>
            </a:extLst>
          </p:cNvPr>
          <p:cNvSpPr txBox="1"/>
          <p:nvPr/>
        </p:nvSpPr>
        <p:spPr>
          <a:xfrm>
            <a:off x="558800" y="2895600"/>
            <a:ext cx="203200" cy="381000"/>
          </a:xfrm>
          <a:prstGeom prst="rect">
            <a:avLst/>
          </a:prstGeom>
          <a:noFill/>
        </p:spPr>
        <p:txBody>
          <a:bodyPr vertOverflow="overflow" vert="horz" wrap="square" rtlCol="0" anchor="t">
            <a:spAutoFit/>
          </a:bodyPr>
          <a:lstStyle/>
          <a:p>
            <a:pPr algn="l"/>
            <a:r>
              <a:rPr lang="pt-BR" sz="1600" b="1">
                <a:solidFill>
                  <a:srgbClr val="4285F4"/>
                </a:solidFill>
              </a:rPr>
              <a:t>•</a:t>
            </a:r>
          </a:p>
        </p:txBody>
      </p:sp>
      <p:sp>
        <p:nvSpPr>
          <p:cNvPr id="11" name="CaixaDeTexto 10">
            <a:extLst>
              <a:ext uri="{FF2B5EF4-FFF2-40B4-BE49-F238E27FC236}">
                <a16:creationId xmlns:a16="http://schemas.microsoft.com/office/drawing/2014/main" id="{6B669615-EFBE-434D-9530-E81CAB7AD644}"/>
              </a:ext>
            </a:extLst>
          </p:cNvPr>
          <p:cNvSpPr txBox="1"/>
          <p:nvPr/>
        </p:nvSpPr>
        <p:spPr>
          <a:xfrm>
            <a:off x="812800" y="2895600"/>
            <a:ext cx="7620000" cy="609600"/>
          </a:xfrm>
          <a:prstGeom prst="rect">
            <a:avLst/>
          </a:prstGeom>
          <a:noFill/>
        </p:spPr>
        <p:txBody>
          <a:bodyPr vertOverflow="overflow" vert="horz" wrap="square" rtlCol="0" anchor="t" anchorCtr="0">
            <a:spAutoFit/>
          </a:bodyPr>
          <a:lstStyle/>
          <a:p>
            <a:pPr algn="l"/>
            <a:r>
              <a:rPr lang="pt-BR" sz="1600">
                <a:solidFill>
                  <a:srgbClr val="37474F"/>
                </a:solidFill>
              </a:rPr>
              <a:t>Regra de ouro: treinar sempre no passado, avaliar sempre no futuro.</a:t>
            </a:r>
          </a:p>
        </p:txBody>
      </p:sp>
      <p:sp>
        <p:nvSpPr>
          <p:cNvPr id="12" name="Retângulo: Cantos Arredondados 11">
            <a:extLst>
              <a:ext uri="{FF2B5EF4-FFF2-40B4-BE49-F238E27FC236}">
                <a16:creationId xmlns:a16="http://schemas.microsoft.com/office/drawing/2014/main" id="{77B5C7B9-00C2-4CC9-AF72-E0D6144573FC}"/>
              </a:ext>
            </a:extLst>
          </p:cNvPr>
          <p:cNvSpPr/>
          <p:nvPr/>
        </p:nvSpPr>
        <p:spPr>
          <a:xfrm>
            <a:off x="558800" y="3632200"/>
            <a:ext cx="7874000" cy="660400"/>
          </a:xfrm>
          <a:prstGeom prst="roundRect">
            <a:avLst/>
          </a:prstGeom>
          <a:solidFill>
            <a:srgbClr val="E8F0F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pt-BR" sz="1600" b="1">
                <a:solidFill>
                  <a:srgbClr val="1A56C4"/>
                </a:solidFill>
                <a:latin typeface="Arial"/>
                <a:cs typeface="Arial"/>
              </a:rPr>
              <a:t>Solução: o TimeSeriesSplit respeita a ordem temporal — treino cresce, teste avança.</a:t>
            </a:r>
          </a:p>
        </p:txBody>
      </p:sp>
    </p:spTree>
    <p:extLst>
      <p:ext uri="{BB962C8B-B14F-4D97-AF65-F5344CB8AC3E}">
        <p14:creationId xmlns:p14="http://schemas.microsoft.com/office/powerpoint/2010/main" val="3280626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8F5BDFAD-28AD-4074-8E16-59D112FE11D7}"/>
              </a:ext>
            </a:extLst>
          </p:cNvPr>
          <p:cNvSpPr/>
          <p:nvPr/>
        </p:nvSpPr>
        <p:spPr>
          <a:xfrm>
            <a:off x="457200" y="406400"/>
            <a:ext cx="76200" cy="5588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 name="CaixaDeTexto 2">
            <a:extLst>
              <a:ext uri="{FF2B5EF4-FFF2-40B4-BE49-F238E27FC236}">
                <a16:creationId xmlns:a16="http://schemas.microsoft.com/office/drawing/2014/main" id="{E552F21C-CF3F-4963-8DA1-20AA5E32C72C}"/>
              </a:ext>
            </a:extLst>
          </p:cNvPr>
          <p:cNvSpPr txBox="1"/>
          <p:nvPr/>
        </p:nvSpPr>
        <p:spPr>
          <a:xfrm>
            <a:off x="660400" y="355600"/>
            <a:ext cx="8026400" cy="558800"/>
          </a:xfrm>
          <a:prstGeom prst="rect">
            <a:avLst/>
          </a:prstGeom>
          <a:noFill/>
        </p:spPr>
        <p:txBody>
          <a:bodyPr vertOverflow="overflow" vert="horz" wrap="square" rtlCol="0" anchor="t" anchorCtr="0">
            <a:spAutoFit/>
          </a:bodyPr>
          <a:lstStyle/>
          <a:p>
            <a:pPr algn="l"/>
            <a:r>
              <a:rPr lang="pt-BR" sz="2400" b="1">
                <a:solidFill>
                  <a:srgbClr val="212121"/>
                </a:solidFill>
              </a:rPr>
              <a:t>O que é o TimeSeriesSplit</a:t>
            </a:r>
          </a:p>
        </p:txBody>
      </p:sp>
      <p:sp>
        <p:nvSpPr>
          <p:cNvPr id="4" name="CaixaDeTexto 3">
            <a:extLst>
              <a:ext uri="{FF2B5EF4-FFF2-40B4-BE49-F238E27FC236}">
                <a16:creationId xmlns:a16="http://schemas.microsoft.com/office/drawing/2014/main" id="{6D045874-4D4C-4974-80A0-6180392DA7AE}"/>
              </a:ext>
            </a:extLst>
          </p:cNvPr>
          <p:cNvSpPr txBox="1"/>
          <p:nvPr/>
        </p:nvSpPr>
        <p:spPr>
          <a:xfrm>
            <a:off x="558800" y="1270000"/>
            <a:ext cx="203200" cy="355600"/>
          </a:xfrm>
          <a:prstGeom prst="rect">
            <a:avLst/>
          </a:prstGeom>
          <a:noFill/>
        </p:spPr>
        <p:txBody>
          <a:bodyPr vertOverflow="overflow" vert="horz" wrap="square" rtlCol="0" anchor="t">
            <a:spAutoFit/>
          </a:bodyPr>
          <a:lstStyle/>
          <a:p>
            <a:pPr algn="l"/>
            <a:r>
              <a:rPr lang="pt-BR" sz="1600" b="1">
                <a:solidFill>
                  <a:srgbClr val="4285F4"/>
                </a:solidFill>
              </a:rPr>
              <a:t>•</a:t>
            </a:r>
          </a:p>
        </p:txBody>
      </p:sp>
      <p:sp>
        <p:nvSpPr>
          <p:cNvPr id="5" name="CaixaDeTexto 4">
            <a:extLst>
              <a:ext uri="{FF2B5EF4-FFF2-40B4-BE49-F238E27FC236}">
                <a16:creationId xmlns:a16="http://schemas.microsoft.com/office/drawing/2014/main" id="{58D60CAA-C098-46B4-A421-ADB54E6BE94E}"/>
              </a:ext>
            </a:extLst>
          </p:cNvPr>
          <p:cNvSpPr txBox="1"/>
          <p:nvPr/>
        </p:nvSpPr>
        <p:spPr>
          <a:xfrm>
            <a:off x="812800" y="1270000"/>
            <a:ext cx="7620000" cy="558800"/>
          </a:xfrm>
          <a:prstGeom prst="rect">
            <a:avLst/>
          </a:prstGeom>
          <a:noFill/>
        </p:spPr>
        <p:txBody>
          <a:bodyPr vertOverflow="overflow" vert="horz" wrap="square" rtlCol="0" anchor="t" anchorCtr="0">
            <a:spAutoFit/>
          </a:bodyPr>
          <a:lstStyle/>
          <a:p>
            <a:pPr algn="l"/>
            <a:r>
              <a:rPr lang="pt-BR" sz="1600">
                <a:solidFill>
                  <a:srgbClr val="37474F"/>
                </a:solidFill>
              </a:rPr>
              <a:t>Validação cruzada para dados ordenados no tempo — uma variação do KFold.</a:t>
            </a:r>
          </a:p>
        </p:txBody>
      </p:sp>
      <p:sp>
        <p:nvSpPr>
          <p:cNvPr id="6" name="CaixaDeTexto 5">
            <a:extLst>
              <a:ext uri="{FF2B5EF4-FFF2-40B4-BE49-F238E27FC236}">
                <a16:creationId xmlns:a16="http://schemas.microsoft.com/office/drawing/2014/main" id="{3947146A-33DF-4CB6-A1BA-27C442798E6A}"/>
              </a:ext>
            </a:extLst>
          </p:cNvPr>
          <p:cNvSpPr txBox="1"/>
          <p:nvPr/>
        </p:nvSpPr>
        <p:spPr>
          <a:xfrm>
            <a:off x="558800" y="1854200"/>
            <a:ext cx="203200" cy="355600"/>
          </a:xfrm>
          <a:prstGeom prst="rect">
            <a:avLst/>
          </a:prstGeom>
          <a:noFill/>
        </p:spPr>
        <p:txBody>
          <a:bodyPr vertOverflow="overflow" vert="horz" wrap="square" rtlCol="0" anchor="t">
            <a:spAutoFit/>
          </a:bodyPr>
          <a:lstStyle/>
          <a:p>
            <a:pPr algn="l"/>
            <a:r>
              <a:rPr lang="pt-BR" sz="1600" b="1">
                <a:solidFill>
                  <a:srgbClr val="4285F4"/>
                </a:solidFill>
              </a:rPr>
              <a:t>•</a:t>
            </a:r>
          </a:p>
        </p:txBody>
      </p:sp>
      <p:sp>
        <p:nvSpPr>
          <p:cNvPr id="7" name="CaixaDeTexto 6">
            <a:extLst>
              <a:ext uri="{FF2B5EF4-FFF2-40B4-BE49-F238E27FC236}">
                <a16:creationId xmlns:a16="http://schemas.microsoft.com/office/drawing/2014/main" id="{BE880A48-A014-4BAB-903D-9FAC7445150F}"/>
              </a:ext>
            </a:extLst>
          </p:cNvPr>
          <p:cNvSpPr txBox="1"/>
          <p:nvPr/>
        </p:nvSpPr>
        <p:spPr>
          <a:xfrm>
            <a:off x="812800" y="1854200"/>
            <a:ext cx="7620000" cy="558800"/>
          </a:xfrm>
          <a:prstGeom prst="rect">
            <a:avLst/>
          </a:prstGeom>
          <a:noFill/>
        </p:spPr>
        <p:txBody>
          <a:bodyPr vertOverflow="overflow" vert="horz" wrap="square" rtlCol="0" anchor="t" anchorCtr="0">
            <a:spAutoFit/>
          </a:bodyPr>
          <a:lstStyle/>
          <a:p>
            <a:pPr algn="l"/>
            <a:r>
              <a:rPr lang="pt-BR" sz="1600">
                <a:solidFill>
                  <a:srgbClr val="37474F"/>
                </a:solidFill>
              </a:rPr>
              <a:t>No k-ésimo split, os primeiros k blocos viram treino e o bloco seguinte vira teste.</a:t>
            </a:r>
          </a:p>
        </p:txBody>
      </p:sp>
      <p:sp>
        <p:nvSpPr>
          <p:cNvPr id="8" name="CaixaDeTexto 7">
            <a:extLst>
              <a:ext uri="{FF2B5EF4-FFF2-40B4-BE49-F238E27FC236}">
                <a16:creationId xmlns:a16="http://schemas.microsoft.com/office/drawing/2014/main" id="{CD1B8D69-D50A-4AA5-8517-9F6E6718C639}"/>
              </a:ext>
            </a:extLst>
          </p:cNvPr>
          <p:cNvSpPr txBox="1"/>
          <p:nvPr/>
        </p:nvSpPr>
        <p:spPr>
          <a:xfrm>
            <a:off x="558800" y="2590800"/>
            <a:ext cx="203200" cy="355600"/>
          </a:xfrm>
          <a:prstGeom prst="rect">
            <a:avLst/>
          </a:prstGeom>
          <a:noFill/>
        </p:spPr>
        <p:txBody>
          <a:bodyPr vertOverflow="overflow" vert="horz" wrap="square" rtlCol="0" anchor="t">
            <a:spAutoFit/>
          </a:bodyPr>
          <a:lstStyle/>
          <a:p>
            <a:pPr algn="l"/>
            <a:r>
              <a:rPr lang="pt-BR" sz="1600" b="1">
                <a:solidFill>
                  <a:srgbClr val="4285F4"/>
                </a:solidFill>
              </a:rPr>
              <a:t>•</a:t>
            </a:r>
          </a:p>
        </p:txBody>
      </p:sp>
      <p:sp>
        <p:nvSpPr>
          <p:cNvPr id="9" name="CaixaDeTexto 8">
            <a:extLst>
              <a:ext uri="{FF2B5EF4-FFF2-40B4-BE49-F238E27FC236}">
                <a16:creationId xmlns:a16="http://schemas.microsoft.com/office/drawing/2014/main" id="{5B4B40A8-AEDE-4BBF-922A-388841E15C6E}"/>
              </a:ext>
            </a:extLst>
          </p:cNvPr>
          <p:cNvSpPr txBox="1"/>
          <p:nvPr/>
        </p:nvSpPr>
        <p:spPr>
          <a:xfrm>
            <a:off x="812800" y="2590800"/>
            <a:ext cx="7620000" cy="558800"/>
          </a:xfrm>
          <a:prstGeom prst="rect">
            <a:avLst/>
          </a:prstGeom>
          <a:noFill/>
        </p:spPr>
        <p:txBody>
          <a:bodyPr vertOverflow="overflow" vert="horz" wrap="square" rtlCol="0" anchor="t" anchorCtr="0">
            <a:spAutoFit/>
          </a:bodyPr>
          <a:lstStyle/>
          <a:p>
            <a:pPr algn="l"/>
            <a:r>
              <a:rPr lang="pt-BR" sz="1600">
                <a:solidFill>
                  <a:srgbClr val="37474F"/>
                </a:solidFill>
              </a:rPr>
              <a:t>Os conjuntos de treino são supersets dos anteriores: o treino sempre cresce.</a:t>
            </a:r>
          </a:p>
        </p:txBody>
      </p:sp>
      <p:sp>
        <p:nvSpPr>
          <p:cNvPr id="10" name="CaixaDeTexto 9">
            <a:extLst>
              <a:ext uri="{FF2B5EF4-FFF2-40B4-BE49-F238E27FC236}">
                <a16:creationId xmlns:a16="http://schemas.microsoft.com/office/drawing/2014/main" id="{B7A0EED7-A173-4030-BE0A-EBE1B9B65F77}"/>
              </a:ext>
            </a:extLst>
          </p:cNvPr>
          <p:cNvSpPr txBox="1"/>
          <p:nvPr/>
        </p:nvSpPr>
        <p:spPr>
          <a:xfrm>
            <a:off x="558800" y="3327400"/>
            <a:ext cx="203200" cy="355600"/>
          </a:xfrm>
          <a:prstGeom prst="rect">
            <a:avLst/>
          </a:prstGeom>
          <a:noFill/>
        </p:spPr>
        <p:txBody>
          <a:bodyPr vertOverflow="overflow" vert="horz" wrap="square" rtlCol="0" anchor="t">
            <a:spAutoFit/>
          </a:bodyPr>
          <a:lstStyle/>
          <a:p>
            <a:pPr algn="l"/>
            <a:r>
              <a:rPr lang="pt-BR" sz="1600" b="1">
                <a:solidFill>
                  <a:srgbClr val="4285F4"/>
                </a:solidFill>
              </a:rPr>
              <a:t>•</a:t>
            </a:r>
          </a:p>
        </p:txBody>
      </p:sp>
      <p:sp>
        <p:nvSpPr>
          <p:cNvPr id="11" name="CaixaDeTexto 10">
            <a:extLst>
              <a:ext uri="{FF2B5EF4-FFF2-40B4-BE49-F238E27FC236}">
                <a16:creationId xmlns:a16="http://schemas.microsoft.com/office/drawing/2014/main" id="{BC6A037C-4E92-4E3C-857C-1E2C4A244159}"/>
              </a:ext>
            </a:extLst>
          </p:cNvPr>
          <p:cNvSpPr txBox="1"/>
          <p:nvPr/>
        </p:nvSpPr>
        <p:spPr>
          <a:xfrm>
            <a:off x="812800" y="3327400"/>
            <a:ext cx="7620000" cy="558800"/>
          </a:xfrm>
          <a:prstGeom prst="rect">
            <a:avLst/>
          </a:prstGeom>
          <a:noFill/>
        </p:spPr>
        <p:txBody>
          <a:bodyPr vertOverflow="overflow" vert="horz" wrap="square" rtlCol="0" anchor="t" anchorCtr="0">
            <a:spAutoFit/>
          </a:bodyPr>
          <a:lstStyle/>
          <a:p>
            <a:pPr algn="l"/>
            <a:r>
              <a:rPr lang="pt-BR" sz="1600">
                <a:solidFill>
                  <a:srgbClr val="37474F"/>
                </a:solidFill>
              </a:rPr>
              <a:t>Os índices de teste são sempre maiores que os de treino — nunca se treina no futuro.</a:t>
            </a:r>
          </a:p>
        </p:txBody>
      </p:sp>
      <p:sp>
        <p:nvSpPr>
          <p:cNvPr id="12" name="Retângulo: Cantos Arredondados 11">
            <a:extLst>
              <a:ext uri="{FF2B5EF4-FFF2-40B4-BE49-F238E27FC236}">
                <a16:creationId xmlns:a16="http://schemas.microsoft.com/office/drawing/2014/main" id="{D7770B05-9E7F-4A0E-A540-D8D572D88FC3}"/>
              </a:ext>
            </a:extLst>
          </p:cNvPr>
          <p:cNvSpPr/>
          <p:nvPr/>
        </p:nvSpPr>
        <p:spPr>
          <a:xfrm>
            <a:off x="558800" y="4165600"/>
            <a:ext cx="7874000" cy="660400"/>
          </a:xfrm>
          <a:prstGeom prst="roundRect">
            <a:avLst/>
          </a:prstGeom>
          <a:solidFill>
            <a:srgbClr val="E8F0F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pt-BR" sz="1600" b="1">
                <a:solidFill>
                  <a:srgbClr val="1A56C4"/>
                </a:solidFill>
                <a:latin typeface="Arial"/>
                <a:cs typeface="Arial"/>
              </a:rPr>
              <a:t>Cada fold de teste cobre a mesma duração; o treino acumula todo o histórico anterior.</a:t>
            </a:r>
          </a:p>
        </p:txBody>
      </p:sp>
    </p:spTree>
    <p:extLst>
      <p:ext uri="{BB962C8B-B14F-4D97-AF65-F5344CB8AC3E}">
        <p14:creationId xmlns:p14="http://schemas.microsoft.com/office/powerpoint/2010/main" val="234501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A512FEDD-46A0-48D1-B032-55575D65784C}"/>
              </a:ext>
            </a:extLst>
          </p:cNvPr>
          <p:cNvSpPr/>
          <p:nvPr/>
        </p:nvSpPr>
        <p:spPr>
          <a:xfrm>
            <a:off x="457200" y="406400"/>
            <a:ext cx="76200" cy="5588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 name="CaixaDeTexto 2">
            <a:extLst>
              <a:ext uri="{FF2B5EF4-FFF2-40B4-BE49-F238E27FC236}">
                <a16:creationId xmlns:a16="http://schemas.microsoft.com/office/drawing/2014/main" id="{32BD40D0-CA54-4352-A47A-B88B2F539BC8}"/>
              </a:ext>
            </a:extLst>
          </p:cNvPr>
          <p:cNvSpPr txBox="1"/>
          <p:nvPr/>
        </p:nvSpPr>
        <p:spPr>
          <a:xfrm>
            <a:off x="660400" y="355600"/>
            <a:ext cx="8026400" cy="558800"/>
          </a:xfrm>
          <a:prstGeom prst="rect">
            <a:avLst/>
          </a:prstGeom>
          <a:noFill/>
        </p:spPr>
        <p:txBody>
          <a:bodyPr vertOverflow="overflow" vert="horz" wrap="square" rtlCol="0" anchor="t" anchorCtr="0">
            <a:spAutoFit/>
          </a:bodyPr>
          <a:lstStyle/>
          <a:p>
            <a:pPr algn="l"/>
            <a:r>
              <a:rPr lang="pt-BR" sz="2400" b="1">
                <a:solidFill>
                  <a:srgbClr val="212121"/>
                </a:solidFill>
              </a:rPr>
              <a:t>Assinatura e parâmetros</a:t>
            </a:r>
          </a:p>
        </p:txBody>
      </p:sp>
      <p:sp>
        <p:nvSpPr>
          <p:cNvPr id="4" name="Retângulo: Cantos Arredondados 3">
            <a:extLst>
              <a:ext uri="{FF2B5EF4-FFF2-40B4-BE49-F238E27FC236}">
                <a16:creationId xmlns:a16="http://schemas.microsoft.com/office/drawing/2014/main" id="{A5E7508A-4D8A-4153-814D-A9962C6049AE}"/>
              </a:ext>
            </a:extLst>
          </p:cNvPr>
          <p:cNvSpPr/>
          <p:nvPr/>
        </p:nvSpPr>
        <p:spPr>
          <a:xfrm>
            <a:off x="558800" y="1066800"/>
            <a:ext cx="8026400" cy="584200"/>
          </a:xfrm>
          <a:prstGeom prst="roundRect">
            <a:avLst/>
          </a:prstGeom>
          <a:solidFill>
            <a:srgbClr val="21212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300">
                <a:solidFill>
                  <a:srgbClr val="EAF2FF"/>
                </a:solidFill>
                <a:latin typeface="Consolas"/>
              </a:rPr>
              <a:t>TimeSeriesSplit(n_splits=5, *, max_train_size=None,
                test_size=None, gap=0)</a:t>
            </a:r>
            <a:endParaRPr lang="pt-BR" sz="1300">
              <a:solidFill>
                <a:srgbClr val="EAF2FF"/>
              </a:solidFill>
              <a:latin typeface="Consolas"/>
            </a:endParaRPr>
          </a:p>
        </p:txBody>
      </p:sp>
      <p:sp>
        <p:nvSpPr>
          <p:cNvPr id="5" name="CaixaDeTexto 4">
            <a:extLst>
              <a:ext uri="{FF2B5EF4-FFF2-40B4-BE49-F238E27FC236}">
                <a16:creationId xmlns:a16="http://schemas.microsoft.com/office/drawing/2014/main" id="{F12A765F-EB12-4CB7-A58D-12523BD9C035}"/>
              </a:ext>
            </a:extLst>
          </p:cNvPr>
          <p:cNvSpPr txBox="1"/>
          <p:nvPr/>
        </p:nvSpPr>
        <p:spPr>
          <a:xfrm>
            <a:off x="558800" y="1854200"/>
            <a:ext cx="2133600" cy="508000"/>
          </a:xfrm>
          <a:prstGeom prst="rect">
            <a:avLst/>
          </a:prstGeom>
          <a:noFill/>
        </p:spPr>
        <p:txBody>
          <a:bodyPr vertOverflow="overflow" vert="horz" wrap="square" rtlCol="0" anchor="t" anchorCtr="0">
            <a:spAutoFit/>
          </a:bodyPr>
          <a:lstStyle/>
          <a:p>
            <a:pPr algn="l"/>
            <a:r>
              <a:rPr lang="pt-BR" sz="1500" b="1">
                <a:solidFill>
                  <a:srgbClr val="4285F4"/>
                </a:solidFill>
                <a:latin typeface="Consolas"/>
              </a:rPr>
              <a:t>n_splits</a:t>
            </a:r>
          </a:p>
        </p:txBody>
      </p:sp>
      <p:sp>
        <p:nvSpPr>
          <p:cNvPr id="6" name="CaixaDeTexto 5">
            <a:extLst>
              <a:ext uri="{FF2B5EF4-FFF2-40B4-BE49-F238E27FC236}">
                <a16:creationId xmlns:a16="http://schemas.microsoft.com/office/drawing/2014/main" id="{2B632EF5-C553-4788-ADD9-8D50CC92593C}"/>
              </a:ext>
            </a:extLst>
          </p:cNvPr>
          <p:cNvSpPr txBox="1"/>
          <p:nvPr/>
        </p:nvSpPr>
        <p:spPr>
          <a:xfrm>
            <a:off x="2794000" y="1854200"/>
            <a:ext cx="5791200" cy="609600"/>
          </a:xfrm>
          <a:prstGeom prst="rect">
            <a:avLst/>
          </a:prstGeom>
          <a:noFill/>
        </p:spPr>
        <p:txBody>
          <a:bodyPr vertOverflow="overflow" vert="horz" wrap="square" rtlCol="0" anchor="t" anchorCtr="0">
            <a:spAutoFit/>
          </a:bodyPr>
          <a:lstStyle/>
          <a:p>
            <a:pPr algn="l"/>
            <a:r>
              <a:rPr lang="pt-BR" sz="1500">
                <a:solidFill>
                  <a:srgbClr val="37474F"/>
                </a:solidFill>
              </a:rPr>
              <a:t>Número de divisões (padrão 5, mínimo 2). Gera n_splits pares treino/teste.</a:t>
            </a:r>
          </a:p>
        </p:txBody>
      </p:sp>
      <p:sp>
        <p:nvSpPr>
          <p:cNvPr id="7" name="CaixaDeTexto 6">
            <a:extLst>
              <a:ext uri="{FF2B5EF4-FFF2-40B4-BE49-F238E27FC236}">
                <a16:creationId xmlns:a16="http://schemas.microsoft.com/office/drawing/2014/main" id="{7A5D7D65-59C4-4817-815F-B388E3F1E9A8}"/>
              </a:ext>
            </a:extLst>
          </p:cNvPr>
          <p:cNvSpPr txBox="1"/>
          <p:nvPr/>
        </p:nvSpPr>
        <p:spPr>
          <a:xfrm>
            <a:off x="558800" y="2590800"/>
            <a:ext cx="2133600" cy="508000"/>
          </a:xfrm>
          <a:prstGeom prst="rect">
            <a:avLst/>
          </a:prstGeom>
          <a:noFill/>
        </p:spPr>
        <p:txBody>
          <a:bodyPr vertOverflow="overflow" vert="horz" wrap="square" rtlCol="0" anchor="t" anchorCtr="0">
            <a:spAutoFit/>
          </a:bodyPr>
          <a:lstStyle/>
          <a:p>
            <a:pPr algn="l"/>
            <a:r>
              <a:rPr lang="pt-BR" sz="1500" b="1">
                <a:solidFill>
                  <a:srgbClr val="4285F4"/>
                </a:solidFill>
                <a:latin typeface="Consolas"/>
              </a:rPr>
              <a:t>test_size</a:t>
            </a:r>
          </a:p>
        </p:txBody>
      </p:sp>
      <p:sp>
        <p:nvSpPr>
          <p:cNvPr id="8" name="CaixaDeTexto 7">
            <a:extLst>
              <a:ext uri="{FF2B5EF4-FFF2-40B4-BE49-F238E27FC236}">
                <a16:creationId xmlns:a16="http://schemas.microsoft.com/office/drawing/2014/main" id="{B3AE742F-7B90-42D2-AF9F-5B7091BA69A6}"/>
              </a:ext>
            </a:extLst>
          </p:cNvPr>
          <p:cNvSpPr txBox="1"/>
          <p:nvPr/>
        </p:nvSpPr>
        <p:spPr>
          <a:xfrm>
            <a:off x="2794000" y="2590800"/>
            <a:ext cx="5791200" cy="609600"/>
          </a:xfrm>
          <a:prstGeom prst="rect">
            <a:avLst/>
          </a:prstGeom>
          <a:noFill/>
        </p:spPr>
        <p:txBody>
          <a:bodyPr vertOverflow="overflow" vert="horz" wrap="square" rtlCol="0" anchor="t" anchorCtr="0">
            <a:spAutoFit/>
          </a:bodyPr>
          <a:lstStyle/>
          <a:p>
            <a:pPr algn="l"/>
            <a:r>
              <a:rPr lang="pt-BR" sz="1500">
                <a:solidFill>
                  <a:srgbClr val="37474F"/>
                </a:solidFill>
              </a:rPr>
              <a:t>Tamanho de cada teste. Padrão: n_samples // (n_splits + 1).</a:t>
            </a:r>
          </a:p>
        </p:txBody>
      </p:sp>
      <p:sp>
        <p:nvSpPr>
          <p:cNvPr id="9" name="CaixaDeTexto 8">
            <a:extLst>
              <a:ext uri="{FF2B5EF4-FFF2-40B4-BE49-F238E27FC236}">
                <a16:creationId xmlns:a16="http://schemas.microsoft.com/office/drawing/2014/main" id="{1FC7E2B3-17A8-4836-AE44-A7DC99200FB7}"/>
              </a:ext>
            </a:extLst>
          </p:cNvPr>
          <p:cNvSpPr txBox="1"/>
          <p:nvPr/>
        </p:nvSpPr>
        <p:spPr>
          <a:xfrm>
            <a:off x="558800" y="3175000"/>
            <a:ext cx="2133600" cy="508000"/>
          </a:xfrm>
          <a:prstGeom prst="rect">
            <a:avLst/>
          </a:prstGeom>
          <a:noFill/>
        </p:spPr>
        <p:txBody>
          <a:bodyPr vertOverflow="overflow" vert="horz" wrap="square" rtlCol="0" anchor="t" anchorCtr="0">
            <a:spAutoFit/>
          </a:bodyPr>
          <a:lstStyle/>
          <a:p>
            <a:pPr algn="l"/>
            <a:r>
              <a:rPr lang="pt-BR" sz="1500" b="1">
                <a:solidFill>
                  <a:srgbClr val="4285F4"/>
                </a:solidFill>
                <a:latin typeface="Consolas"/>
              </a:rPr>
              <a:t>max_train_size</a:t>
            </a:r>
          </a:p>
        </p:txBody>
      </p:sp>
      <p:sp>
        <p:nvSpPr>
          <p:cNvPr id="10" name="CaixaDeTexto 9">
            <a:extLst>
              <a:ext uri="{FF2B5EF4-FFF2-40B4-BE49-F238E27FC236}">
                <a16:creationId xmlns:a16="http://schemas.microsoft.com/office/drawing/2014/main" id="{3A70168E-C14B-448F-8284-B5632171CD7A}"/>
              </a:ext>
            </a:extLst>
          </p:cNvPr>
          <p:cNvSpPr txBox="1"/>
          <p:nvPr/>
        </p:nvSpPr>
        <p:spPr>
          <a:xfrm>
            <a:off x="2794000" y="3175000"/>
            <a:ext cx="5791200" cy="609600"/>
          </a:xfrm>
          <a:prstGeom prst="rect">
            <a:avLst/>
          </a:prstGeom>
          <a:noFill/>
        </p:spPr>
        <p:txBody>
          <a:bodyPr vertOverflow="overflow" vert="horz" wrap="square" rtlCol="0" anchor="t" anchorCtr="0">
            <a:spAutoFit/>
          </a:bodyPr>
          <a:lstStyle/>
          <a:p>
            <a:pPr algn="l"/>
            <a:r>
              <a:rPr lang="pt-BR" sz="1500">
                <a:solidFill>
                  <a:srgbClr val="37474F"/>
                </a:solidFill>
              </a:rPr>
              <a:t>Tamanho máximo de cada treino — habilita a janela deslizante.</a:t>
            </a:r>
          </a:p>
        </p:txBody>
      </p:sp>
      <p:sp>
        <p:nvSpPr>
          <p:cNvPr id="11" name="CaixaDeTexto 10">
            <a:extLst>
              <a:ext uri="{FF2B5EF4-FFF2-40B4-BE49-F238E27FC236}">
                <a16:creationId xmlns:a16="http://schemas.microsoft.com/office/drawing/2014/main" id="{7D385C53-C836-477D-AB14-71CAC6A5E88E}"/>
              </a:ext>
            </a:extLst>
          </p:cNvPr>
          <p:cNvSpPr txBox="1"/>
          <p:nvPr/>
        </p:nvSpPr>
        <p:spPr>
          <a:xfrm>
            <a:off x="558800" y="3759200"/>
            <a:ext cx="2133600" cy="508000"/>
          </a:xfrm>
          <a:prstGeom prst="rect">
            <a:avLst/>
          </a:prstGeom>
          <a:noFill/>
        </p:spPr>
        <p:txBody>
          <a:bodyPr vertOverflow="overflow" vert="horz" wrap="square" rtlCol="0" anchor="t" anchorCtr="0">
            <a:spAutoFit/>
          </a:bodyPr>
          <a:lstStyle/>
          <a:p>
            <a:pPr algn="l"/>
            <a:r>
              <a:rPr lang="pt-BR" sz="1500" b="1">
                <a:solidFill>
                  <a:srgbClr val="4285F4"/>
                </a:solidFill>
                <a:latin typeface="Consolas"/>
              </a:rPr>
              <a:t>gap</a:t>
            </a:r>
          </a:p>
        </p:txBody>
      </p:sp>
      <p:sp>
        <p:nvSpPr>
          <p:cNvPr id="12" name="CaixaDeTexto 11">
            <a:extLst>
              <a:ext uri="{FF2B5EF4-FFF2-40B4-BE49-F238E27FC236}">
                <a16:creationId xmlns:a16="http://schemas.microsoft.com/office/drawing/2014/main" id="{426666E8-15D5-456D-9586-B9F788C8CBC6}"/>
              </a:ext>
            </a:extLst>
          </p:cNvPr>
          <p:cNvSpPr txBox="1"/>
          <p:nvPr/>
        </p:nvSpPr>
        <p:spPr>
          <a:xfrm>
            <a:off x="2794000" y="3759200"/>
            <a:ext cx="5791200" cy="609600"/>
          </a:xfrm>
          <a:prstGeom prst="rect">
            <a:avLst/>
          </a:prstGeom>
          <a:noFill/>
        </p:spPr>
        <p:txBody>
          <a:bodyPr vertOverflow="overflow" vert="horz" wrap="square" rtlCol="0" anchor="t" anchorCtr="0">
            <a:spAutoFit/>
          </a:bodyPr>
          <a:lstStyle/>
          <a:p>
            <a:pPr algn="l"/>
            <a:r>
              <a:rPr lang="pt-BR" sz="1500">
                <a:solidFill>
                  <a:srgbClr val="37474F"/>
                </a:solidFill>
              </a:rPr>
              <a:t>Nº de amostras descartadas entre o fim do treino e o início do teste.</a:t>
            </a:r>
          </a:p>
        </p:txBody>
      </p:sp>
    </p:spTree>
    <p:extLst>
      <p:ext uri="{BB962C8B-B14F-4D97-AF65-F5344CB8AC3E}">
        <p14:creationId xmlns:p14="http://schemas.microsoft.com/office/powerpoint/2010/main" val="19224487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D531AE36-1AF9-473B-B256-9D12BD9CB2F0}"/>
              </a:ext>
            </a:extLst>
          </p:cNvPr>
          <p:cNvSpPr/>
          <p:nvPr/>
        </p:nvSpPr>
        <p:spPr>
          <a:xfrm>
            <a:off x="457200" y="406400"/>
            <a:ext cx="76200" cy="5588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 name="CaixaDeTexto 2">
            <a:extLst>
              <a:ext uri="{FF2B5EF4-FFF2-40B4-BE49-F238E27FC236}">
                <a16:creationId xmlns:a16="http://schemas.microsoft.com/office/drawing/2014/main" id="{E7F63585-DB64-4F85-8885-658332A50262}"/>
              </a:ext>
            </a:extLst>
          </p:cNvPr>
          <p:cNvSpPr txBox="1"/>
          <p:nvPr/>
        </p:nvSpPr>
        <p:spPr>
          <a:xfrm>
            <a:off x="660400" y="355600"/>
            <a:ext cx="8026400" cy="558800"/>
          </a:xfrm>
          <a:prstGeom prst="rect">
            <a:avLst/>
          </a:prstGeom>
          <a:noFill/>
        </p:spPr>
        <p:txBody>
          <a:bodyPr vertOverflow="overflow" vert="horz" wrap="square" rtlCol="0" anchor="t" anchorCtr="0">
            <a:spAutoFit/>
          </a:bodyPr>
          <a:lstStyle/>
          <a:p>
            <a:pPr algn="l"/>
            <a:r>
              <a:rPr lang="pt-BR" sz="2400" b="1">
                <a:solidFill>
                  <a:srgbClr val="212121"/>
                </a:solidFill>
              </a:rPr>
              <a:t>Como os tamanhos dos folds são calculados</a:t>
            </a:r>
          </a:p>
        </p:txBody>
      </p:sp>
      <p:sp>
        <p:nvSpPr>
          <p:cNvPr id="4" name="Retângulo: Cantos Arredondados 3">
            <a:extLst>
              <a:ext uri="{FF2B5EF4-FFF2-40B4-BE49-F238E27FC236}">
                <a16:creationId xmlns:a16="http://schemas.microsoft.com/office/drawing/2014/main" id="{336502F7-FC43-4B88-BD00-A151D0554FE6}"/>
              </a:ext>
            </a:extLst>
          </p:cNvPr>
          <p:cNvSpPr/>
          <p:nvPr/>
        </p:nvSpPr>
        <p:spPr>
          <a:xfrm>
            <a:off x="558800" y="1066800"/>
            <a:ext cx="8026400" cy="838200"/>
          </a:xfrm>
          <a:prstGeom prst="roundRect">
            <a:avLst/>
          </a:prstGeom>
          <a:solidFill>
            <a:srgbClr val="E8F0F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pt-BR" b="1">
                <a:solidFill>
                  <a:srgbClr val="1A56C4"/>
                </a:solidFill>
                <a:latin typeface="Consolas"/>
              </a:rPr>
              <a:t>teste  = n_samples // (n_splits + 1)
treino(i) = i * teste + n_samples % (n_splits + 1)</a:t>
            </a:r>
          </a:p>
        </p:txBody>
      </p:sp>
      <p:sp>
        <p:nvSpPr>
          <p:cNvPr id="5" name="CaixaDeTexto 4">
            <a:extLst>
              <a:ext uri="{FF2B5EF4-FFF2-40B4-BE49-F238E27FC236}">
                <a16:creationId xmlns:a16="http://schemas.microsoft.com/office/drawing/2014/main" id="{2E380980-460D-4A34-A945-90F9C240A3D0}"/>
              </a:ext>
            </a:extLst>
          </p:cNvPr>
          <p:cNvSpPr txBox="1"/>
          <p:nvPr/>
        </p:nvSpPr>
        <p:spPr>
          <a:xfrm>
            <a:off x="558800" y="2006600"/>
            <a:ext cx="8026400" cy="508000"/>
          </a:xfrm>
          <a:prstGeom prst="rect">
            <a:avLst/>
          </a:prstGeom>
          <a:noFill/>
        </p:spPr>
        <p:txBody>
          <a:bodyPr vertOverflow="overflow" vert="horz" wrap="square" rtlCol="0" anchor="t" anchorCtr="0">
            <a:spAutoFit/>
          </a:bodyPr>
          <a:lstStyle/>
          <a:p>
            <a:pPr algn="l"/>
            <a:r>
              <a:rPr lang="pt-BR">
                <a:solidFill>
                  <a:srgbClr val="37474F"/>
                </a:solidFill>
              </a:rPr>
              <a:t>Por padrão o teste tem tamanho fixo e o treino cresce a cada split. Exemplo com 12 amostras e n_splits=5 (teste = 2 por fold):</a:t>
            </a:r>
          </a:p>
        </p:txBody>
      </p:sp>
      <p:sp>
        <p:nvSpPr>
          <p:cNvPr id="6" name="Retângulo: Cantos Arredondados 5">
            <a:extLst>
              <a:ext uri="{FF2B5EF4-FFF2-40B4-BE49-F238E27FC236}">
                <a16:creationId xmlns:a16="http://schemas.microsoft.com/office/drawing/2014/main" id="{88D51BE3-A77C-4D98-95C6-EE0AA085D710}"/>
              </a:ext>
            </a:extLst>
          </p:cNvPr>
          <p:cNvSpPr/>
          <p:nvPr/>
        </p:nvSpPr>
        <p:spPr>
          <a:xfrm>
            <a:off x="558800" y="2590800"/>
            <a:ext cx="8026400" cy="2006600"/>
          </a:xfrm>
          <a:prstGeom prst="roundRect">
            <a:avLst/>
          </a:prstGeom>
          <a:solidFill>
            <a:srgbClr val="21212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nn-NO" sz="1350">
                <a:solidFill>
                  <a:srgbClr val="EAF2FF"/>
                </a:solidFill>
                <a:latin typeface="Consolas"/>
              </a:rPr>
              <a:t>split 1   TREINO=[0 1]           TESTE=[2 3]
split 2   TREINO=[0 1 2 3]       TESTE=[4 5]
split 3   TREINO=[0 ... 5]       TESTE=[6 7]
split 4   TREINO=[0 ... 7]       TESTE=[8 9]
split 5   TREINO=[0 ... 9]       TESTE=[10 11]</a:t>
            </a:r>
            <a:endParaRPr lang="pt-BR" sz="1350">
              <a:solidFill>
                <a:srgbClr val="EAF2FF"/>
              </a:solidFill>
              <a:latin typeface="Consolas"/>
            </a:endParaRPr>
          </a:p>
        </p:txBody>
      </p:sp>
    </p:spTree>
    <p:extLst>
      <p:ext uri="{BB962C8B-B14F-4D97-AF65-F5344CB8AC3E}">
        <p14:creationId xmlns:p14="http://schemas.microsoft.com/office/powerpoint/2010/main" val="5408285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3D2A2518-0867-4227-BD70-F0549FA931EF}"/>
              </a:ext>
            </a:extLst>
          </p:cNvPr>
          <p:cNvSpPr/>
          <p:nvPr/>
        </p:nvSpPr>
        <p:spPr>
          <a:xfrm>
            <a:off x="457200" y="406400"/>
            <a:ext cx="76200" cy="5588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 name="CaixaDeTexto 2">
            <a:extLst>
              <a:ext uri="{FF2B5EF4-FFF2-40B4-BE49-F238E27FC236}">
                <a16:creationId xmlns:a16="http://schemas.microsoft.com/office/drawing/2014/main" id="{957EAF62-358F-4FB4-90ED-39677DAB6050}"/>
              </a:ext>
            </a:extLst>
          </p:cNvPr>
          <p:cNvSpPr txBox="1"/>
          <p:nvPr/>
        </p:nvSpPr>
        <p:spPr>
          <a:xfrm>
            <a:off x="660400" y="355600"/>
            <a:ext cx="8026400" cy="558800"/>
          </a:xfrm>
          <a:prstGeom prst="rect">
            <a:avLst/>
          </a:prstGeom>
          <a:noFill/>
        </p:spPr>
        <p:txBody>
          <a:bodyPr vertOverflow="overflow" vert="horz" wrap="square" rtlCol="0" anchor="t" anchorCtr="0">
            <a:spAutoFit/>
          </a:bodyPr>
          <a:lstStyle/>
          <a:p>
            <a:pPr algn="l"/>
            <a:r>
              <a:rPr lang="pt-BR" sz="2400" b="1">
                <a:solidFill>
                  <a:srgbClr val="212121"/>
                </a:solidFill>
              </a:rPr>
              <a:t>Exemplo 1 — uso básico</a:t>
            </a:r>
          </a:p>
        </p:txBody>
      </p:sp>
      <p:sp>
        <p:nvSpPr>
          <p:cNvPr id="4" name="CaixaDeTexto 3">
            <a:extLst>
              <a:ext uri="{FF2B5EF4-FFF2-40B4-BE49-F238E27FC236}">
                <a16:creationId xmlns:a16="http://schemas.microsoft.com/office/drawing/2014/main" id="{46C46B56-D637-4828-A0EF-D946FB5F23F4}"/>
              </a:ext>
            </a:extLst>
          </p:cNvPr>
          <p:cNvSpPr txBox="1"/>
          <p:nvPr/>
        </p:nvSpPr>
        <p:spPr>
          <a:xfrm>
            <a:off x="558800" y="1016000"/>
            <a:ext cx="2540000" cy="228600"/>
          </a:xfrm>
          <a:prstGeom prst="rect">
            <a:avLst/>
          </a:prstGeom>
          <a:noFill/>
        </p:spPr>
        <p:txBody>
          <a:bodyPr vertOverflow="overflow" vert="horz" wrap="square" rtlCol="0" anchor="t" anchorCtr="0">
            <a:spAutoFit/>
          </a:bodyPr>
          <a:lstStyle/>
          <a:p>
            <a:pPr algn="l"/>
            <a:r>
              <a:rPr lang="pt-BR" sz="1200" b="1">
                <a:solidFill>
                  <a:srgbClr val="37474F"/>
                </a:solidFill>
              </a:rPr>
              <a:t>Código</a:t>
            </a:r>
          </a:p>
        </p:txBody>
      </p:sp>
      <p:sp>
        <p:nvSpPr>
          <p:cNvPr id="5" name="Retângulo: Cantos Arredondados 4">
            <a:extLst>
              <a:ext uri="{FF2B5EF4-FFF2-40B4-BE49-F238E27FC236}">
                <a16:creationId xmlns:a16="http://schemas.microsoft.com/office/drawing/2014/main" id="{9C58EAA7-E518-44F9-AF20-EAD40D2F7890}"/>
              </a:ext>
            </a:extLst>
          </p:cNvPr>
          <p:cNvSpPr/>
          <p:nvPr/>
        </p:nvSpPr>
        <p:spPr>
          <a:xfrm>
            <a:off x="558800" y="1270000"/>
            <a:ext cx="8026400" cy="1676400"/>
          </a:xfrm>
          <a:prstGeom prst="roundRect">
            <a:avLst/>
          </a:prstGeom>
          <a:solidFill>
            <a:srgbClr val="21212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pt-BR" sz="1250">
                <a:solidFill>
                  <a:srgbClr val="EAF2FF"/>
                </a:solidFill>
                <a:latin typeface="Consolas"/>
              </a:rPr>
              <a:t>import numpy as np
from sklearn.model_selection import TimeSeriesSplit
X = np.arange(12).reshape(-1, 1)
tscv = TimeSeriesSplit()            # n_splits=5
for i, (tr, te) in enumerate(tscv.split(X)):
    print(f"Fold {i}: treino={tr}, teste={te}")</a:t>
            </a:r>
          </a:p>
        </p:txBody>
      </p:sp>
      <p:sp>
        <p:nvSpPr>
          <p:cNvPr id="6" name="CaixaDeTexto 5">
            <a:extLst>
              <a:ext uri="{FF2B5EF4-FFF2-40B4-BE49-F238E27FC236}">
                <a16:creationId xmlns:a16="http://schemas.microsoft.com/office/drawing/2014/main" id="{2306BF9F-06DF-4F35-A9D2-75514B0320B0}"/>
              </a:ext>
            </a:extLst>
          </p:cNvPr>
          <p:cNvSpPr txBox="1"/>
          <p:nvPr/>
        </p:nvSpPr>
        <p:spPr>
          <a:xfrm>
            <a:off x="558800" y="3048000"/>
            <a:ext cx="2540000" cy="228600"/>
          </a:xfrm>
          <a:prstGeom prst="rect">
            <a:avLst/>
          </a:prstGeom>
          <a:noFill/>
        </p:spPr>
        <p:txBody>
          <a:bodyPr vertOverflow="overflow" vert="horz" wrap="square" rtlCol="0" anchor="t" anchorCtr="0">
            <a:spAutoFit/>
          </a:bodyPr>
          <a:lstStyle/>
          <a:p>
            <a:pPr algn="l"/>
            <a:r>
              <a:rPr lang="pt-BR" sz="1200" b="1">
                <a:solidFill>
                  <a:srgbClr val="37474F"/>
                </a:solidFill>
              </a:rPr>
              <a:t>Saída</a:t>
            </a:r>
          </a:p>
        </p:txBody>
      </p:sp>
      <p:sp>
        <p:nvSpPr>
          <p:cNvPr id="7" name="Retângulo: Cantos Arredondados 6">
            <a:extLst>
              <a:ext uri="{FF2B5EF4-FFF2-40B4-BE49-F238E27FC236}">
                <a16:creationId xmlns:a16="http://schemas.microsoft.com/office/drawing/2014/main" id="{0EB506E7-1480-4157-9E57-8E424D948DAB}"/>
              </a:ext>
            </a:extLst>
          </p:cNvPr>
          <p:cNvSpPr/>
          <p:nvPr/>
        </p:nvSpPr>
        <p:spPr>
          <a:xfrm>
            <a:off x="558800" y="3302000"/>
            <a:ext cx="8026400" cy="1320800"/>
          </a:xfrm>
          <a:prstGeom prst="roundRect">
            <a:avLst/>
          </a:prstGeom>
          <a:solidFill>
            <a:srgbClr val="2B3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nn-NO" sz="1250">
                <a:solidFill>
                  <a:srgbClr val="CDEAC0"/>
                </a:solidFill>
                <a:latin typeface="Consolas"/>
              </a:rPr>
              <a:t>Fold 0: treino=[0 1]                 teste=[2 3]
Fold 1: treino=[0 1 2 3]             teste=[4 5]
Fold 2: treino=[0 1 2 3 4 5]         teste=[6 7]
Fold 3: treino=[0 1 2 3 4 5 6 7]     teste=[8 9]
Fold 4: treino=[0 1 2 3 4 5 6 7 8 9] teste=[10 11]</a:t>
            </a:r>
            <a:endParaRPr lang="pt-BR" sz="1250">
              <a:solidFill>
                <a:srgbClr val="CDEAC0"/>
              </a:solidFill>
              <a:latin typeface="Consolas"/>
            </a:endParaRPr>
          </a:p>
        </p:txBody>
      </p:sp>
    </p:spTree>
    <p:extLst>
      <p:ext uri="{BB962C8B-B14F-4D97-AF65-F5344CB8AC3E}">
        <p14:creationId xmlns:p14="http://schemas.microsoft.com/office/powerpoint/2010/main" val="2154679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EA74C776-E175-4340-8DD3-E3C068C67637}"/>
              </a:ext>
            </a:extLst>
          </p:cNvPr>
          <p:cNvSpPr/>
          <p:nvPr/>
        </p:nvSpPr>
        <p:spPr>
          <a:xfrm>
            <a:off x="457200" y="406400"/>
            <a:ext cx="76200" cy="5588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 name="CaixaDeTexto 2">
            <a:extLst>
              <a:ext uri="{FF2B5EF4-FFF2-40B4-BE49-F238E27FC236}">
                <a16:creationId xmlns:a16="http://schemas.microsoft.com/office/drawing/2014/main" id="{5A986538-F1AE-4E32-884D-19663916BA78}"/>
              </a:ext>
            </a:extLst>
          </p:cNvPr>
          <p:cNvSpPr txBox="1"/>
          <p:nvPr/>
        </p:nvSpPr>
        <p:spPr>
          <a:xfrm>
            <a:off x="660400" y="355600"/>
            <a:ext cx="8026400" cy="558800"/>
          </a:xfrm>
          <a:prstGeom prst="rect">
            <a:avLst/>
          </a:prstGeom>
          <a:noFill/>
        </p:spPr>
        <p:txBody>
          <a:bodyPr vertOverflow="overflow" vert="horz" wrap="square" rtlCol="0" anchor="t" anchorCtr="0">
            <a:spAutoFit/>
          </a:bodyPr>
          <a:lstStyle/>
          <a:p>
            <a:pPr algn="l"/>
            <a:r>
              <a:rPr lang="pt-BR" sz="2400" b="1">
                <a:solidFill>
                  <a:srgbClr val="212121"/>
                </a:solidFill>
              </a:rPr>
              <a:t>Como os folds crescem no tempo</a:t>
            </a:r>
          </a:p>
        </p:txBody>
      </p:sp>
      <p:sp>
        <p:nvSpPr>
          <p:cNvPr id="4" name="CaixaDeTexto 3">
            <a:extLst>
              <a:ext uri="{FF2B5EF4-FFF2-40B4-BE49-F238E27FC236}">
                <a16:creationId xmlns:a16="http://schemas.microsoft.com/office/drawing/2014/main" id="{52095D72-45DA-40F9-9A4E-AE747A3A77F1}"/>
              </a:ext>
            </a:extLst>
          </p:cNvPr>
          <p:cNvSpPr txBox="1"/>
          <p:nvPr/>
        </p:nvSpPr>
        <p:spPr>
          <a:xfrm>
            <a:off x="558800" y="1295400"/>
            <a:ext cx="889000" cy="304800"/>
          </a:xfrm>
          <a:prstGeom prst="rect">
            <a:avLst/>
          </a:prstGeom>
          <a:noFill/>
        </p:spPr>
        <p:txBody>
          <a:bodyPr vertOverflow="overflow" vert="horz" wrap="square" rtlCol="0" anchor="t">
            <a:spAutoFit/>
          </a:bodyPr>
          <a:lstStyle/>
          <a:p>
            <a:pPr algn="l"/>
            <a:r>
              <a:rPr lang="pt-BR" sz="1300" b="1">
                <a:solidFill>
                  <a:srgbClr val="37474F"/>
                </a:solidFill>
              </a:rPr>
              <a:t>Fold 0</a:t>
            </a:r>
          </a:p>
        </p:txBody>
      </p:sp>
      <p:sp>
        <p:nvSpPr>
          <p:cNvPr id="5" name="Retângulo 4">
            <a:extLst>
              <a:ext uri="{FF2B5EF4-FFF2-40B4-BE49-F238E27FC236}">
                <a16:creationId xmlns:a16="http://schemas.microsoft.com/office/drawing/2014/main" id="{D67EE16E-8331-4FDA-8089-D0FD756399C5}"/>
              </a:ext>
            </a:extLst>
          </p:cNvPr>
          <p:cNvSpPr/>
          <p:nvPr/>
        </p:nvSpPr>
        <p:spPr>
          <a:xfrm>
            <a:off x="1524000" y="1244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6" name="Retângulo 5">
            <a:extLst>
              <a:ext uri="{FF2B5EF4-FFF2-40B4-BE49-F238E27FC236}">
                <a16:creationId xmlns:a16="http://schemas.microsoft.com/office/drawing/2014/main" id="{86E75363-A749-467C-A0E5-4E0CDC7AF539}"/>
              </a:ext>
            </a:extLst>
          </p:cNvPr>
          <p:cNvSpPr/>
          <p:nvPr/>
        </p:nvSpPr>
        <p:spPr>
          <a:xfrm>
            <a:off x="2057400" y="1244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7" name="Retângulo 6">
            <a:extLst>
              <a:ext uri="{FF2B5EF4-FFF2-40B4-BE49-F238E27FC236}">
                <a16:creationId xmlns:a16="http://schemas.microsoft.com/office/drawing/2014/main" id="{19E75BEA-3558-4B65-B146-A2AE16EA4BE2}"/>
              </a:ext>
            </a:extLst>
          </p:cNvPr>
          <p:cNvSpPr/>
          <p:nvPr/>
        </p:nvSpPr>
        <p:spPr>
          <a:xfrm>
            <a:off x="2590800" y="1244600"/>
            <a:ext cx="495300" cy="381000"/>
          </a:xfrm>
          <a:prstGeom prst="rect">
            <a:avLst/>
          </a:prstGeom>
          <a:solidFill>
            <a:srgbClr val="FFAB4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8" name="Retângulo 7">
            <a:extLst>
              <a:ext uri="{FF2B5EF4-FFF2-40B4-BE49-F238E27FC236}">
                <a16:creationId xmlns:a16="http://schemas.microsoft.com/office/drawing/2014/main" id="{65061B01-E1C4-46D7-A599-631DDDBEB33F}"/>
              </a:ext>
            </a:extLst>
          </p:cNvPr>
          <p:cNvSpPr/>
          <p:nvPr/>
        </p:nvSpPr>
        <p:spPr>
          <a:xfrm>
            <a:off x="3124200" y="1244600"/>
            <a:ext cx="495300" cy="381000"/>
          </a:xfrm>
          <a:prstGeom prst="rect">
            <a:avLst/>
          </a:prstGeom>
          <a:solidFill>
            <a:srgbClr val="FFAB4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9" name="Retângulo 8">
            <a:extLst>
              <a:ext uri="{FF2B5EF4-FFF2-40B4-BE49-F238E27FC236}">
                <a16:creationId xmlns:a16="http://schemas.microsoft.com/office/drawing/2014/main" id="{45C89234-5EA6-4C19-AE10-B096FF6EA726}"/>
              </a:ext>
            </a:extLst>
          </p:cNvPr>
          <p:cNvSpPr/>
          <p:nvPr/>
        </p:nvSpPr>
        <p:spPr>
          <a:xfrm>
            <a:off x="3657600" y="1244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10" name="Retângulo 9">
            <a:extLst>
              <a:ext uri="{FF2B5EF4-FFF2-40B4-BE49-F238E27FC236}">
                <a16:creationId xmlns:a16="http://schemas.microsoft.com/office/drawing/2014/main" id="{CB0328B6-AB54-4850-9FB6-B2006301BDF5}"/>
              </a:ext>
            </a:extLst>
          </p:cNvPr>
          <p:cNvSpPr/>
          <p:nvPr/>
        </p:nvSpPr>
        <p:spPr>
          <a:xfrm>
            <a:off x="4191000" y="1244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11" name="Retângulo 10">
            <a:extLst>
              <a:ext uri="{FF2B5EF4-FFF2-40B4-BE49-F238E27FC236}">
                <a16:creationId xmlns:a16="http://schemas.microsoft.com/office/drawing/2014/main" id="{ACCCB092-6C2F-4326-BAA1-8726326BC1F4}"/>
              </a:ext>
            </a:extLst>
          </p:cNvPr>
          <p:cNvSpPr/>
          <p:nvPr/>
        </p:nvSpPr>
        <p:spPr>
          <a:xfrm>
            <a:off x="4724400" y="1244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12" name="Retângulo 11">
            <a:extLst>
              <a:ext uri="{FF2B5EF4-FFF2-40B4-BE49-F238E27FC236}">
                <a16:creationId xmlns:a16="http://schemas.microsoft.com/office/drawing/2014/main" id="{3A20CEF9-1F86-4B29-A89F-53D3FB9AFCEC}"/>
              </a:ext>
            </a:extLst>
          </p:cNvPr>
          <p:cNvSpPr/>
          <p:nvPr/>
        </p:nvSpPr>
        <p:spPr>
          <a:xfrm>
            <a:off x="5257800" y="1244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13" name="Retângulo 12">
            <a:extLst>
              <a:ext uri="{FF2B5EF4-FFF2-40B4-BE49-F238E27FC236}">
                <a16:creationId xmlns:a16="http://schemas.microsoft.com/office/drawing/2014/main" id="{DB05B34B-37E3-4ED3-9FD4-C5E1F5686C72}"/>
              </a:ext>
            </a:extLst>
          </p:cNvPr>
          <p:cNvSpPr/>
          <p:nvPr/>
        </p:nvSpPr>
        <p:spPr>
          <a:xfrm>
            <a:off x="5791200" y="1244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14" name="Retângulo 13">
            <a:extLst>
              <a:ext uri="{FF2B5EF4-FFF2-40B4-BE49-F238E27FC236}">
                <a16:creationId xmlns:a16="http://schemas.microsoft.com/office/drawing/2014/main" id="{45E5A8DE-112F-47C5-A3AC-E9BA71115CDF}"/>
              </a:ext>
            </a:extLst>
          </p:cNvPr>
          <p:cNvSpPr/>
          <p:nvPr/>
        </p:nvSpPr>
        <p:spPr>
          <a:xfrm>
            <a:off x="6324600" y="1244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15" name="Retângulo 14">
            <a:extLst>
              <a:ext uri="{FF2B5EF4-FFF2-40B4-BE49-F238E27FC236}">
                <a16:creationId xmlns:a16="http://schemas.microsoft.com/office/drawing/2014/main" id="{E33AF7BA-D35F-4D1D-B471-8A9452444ABE}"/>
              </a:ext>
            </a:extLst>
          </p:cNvPr>
          <p:cNvSpPr/>
          <p:nvPr/>
        </p:nvSpPr>
        <p:spPr>
          <a:xfrm>
            <a:off x="6858000" y="1244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16" name="Retângulo 15">
            <a:extLst>
              <a:ext uri="{FF2B5EF4-FFF2-40B4-BE49-F238E27FC236}">
                <a16:creationId xmlns:a16="http://schemas.microsoft.com/office/drawing/2014/main" id="{2681CE15-A300-47B7-BC50-3AE3094AFFB3}"/>
              </a:ext>
            </a:extLst>
          </p:cNvPr>
          <p:cNvSpPr/>
          <p:nvPr/>
        </p:nvSpPr>
        <p:spPr>
          <a:xfrm>
            <a:off x="7391400" y="1244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17" name="CaixaDeTexto 16">
            <a:extLst>
              <a:ext uri="{FF2B5EF4-FFF2-40B4-BE49-F238E27FC236}">
                <a16:creationId xmlns:a16="http://schemas.microsoft.com/office/drawing/2014/main" id="{27E700AD-39BE-4F41-9003-10C749B9D001}"/>
              </a:ext>
            </a:extLst>
          </p:cNvPr>
          <p:cNvSpPr txBox="1"/>
          <p:nvPr/>
        </p:nvSpPr>
        <p:spPr>
          <a:xfrm>
            <a:off x="558800" y="1803400"/>
            <a:ext cx="889000" cy="304800"/>
          </a:xfrm>
          <a:prstGeom prst="rect">
            <a:avLst/>
          </a:prstGeom>
          <a:noFill/>
        </p:spPr>
        <p:txBody>
          <a:bodyPr vertOverflow="overflow" vert="horz" wrap="square" rtlCol="0" anchor="t">
            <a:spAutoFit/>
          </a:bodyPr>
          <a:lstStyle/>
          <a:p>
            <a:pPr algn="l"/>
            <a:r>
              <a:rPr lang="pt-BR" sz="1300" b="1">
                <a:solidFill>
                  <a:srgbClr val="37474F"/>
                </a:solidFill>
              </a:rPr>
              <a:t>Fold 1</a:t>
            </a:r>
          </a:p>
        </p:txBody>
      </p:sp>
      <p:sp>
        <p:nvSpPr>
          <p:cNvPr id="18" name="Retângulo 17">
            <a:extLst>
              <a:ext uri="{FF2B5EF4-FFF2-40B4-BE49-F238E27FC236}">
                <a16:creationId xmlns:a16="http://schemas.microsoft.com/office/drawing/2014/main" id="{6E445DD0-F86B-4B07-B0AC-460387133CE7}"/>
              </a:ext>
            </a:extLst>
          </p:cNvPr>
          <p:cNvSpPr/>
          <p:nvPr/>
        </p:nvSpPr>
        <p:spPr>
          <a:xfrm>
            <a:off x="1524000" y="1752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19" name="Retângulo 18">
            <a:extLst>
              <a:ext uri="{FF2B5EF4-FFF2-40B4-BE49-F238E27FC236}">
                <a16:creationId xmlns:a16="http://schemas.microsoft.com/office/drawing/2014/main" id="{AD9373E9-DC5F-4C43-BD77-A869D2FC556D}"/>
              </a:ext>
            </a:extLst>
          </p:cNvPr>
          <p:cNvSpPr/>
          <p:nvPr/>
        </p:nvSpPr>
        <p:spPr>
          <a:xfrm>
            <a:off x="2057400" y="1752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20" name="Retângulo 19">
            <a:extLst>
              <a:ext uri="{FF2B5EF4-FFF2-40B4-BE49-F238E27FC236}">
                <a16:creationId xmlns:a16="http://schemas.microsoft.com/office/drawing/2014/main" id="{4A7913E7-37D7-4262-929E-92CD3F7A69CF}"/>
              </a:ext>
            </a:extLst>
          </p:cNvPr>
          <p:cNvSpPr/>
          <p:nvPr/>
        </p:nvSpPr>
        <p:spPr>
          <a:xfrm>
            <a:off x="2590800" y="1752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21" name="Retângulo 20">
            <a:extLst>
              <a:ext uri="{FF2B5EF4-FFF2-40B4-BE49-F238E27FC236}">
                <a16:creationId xmlns:a16="http://schemas.microsoft.com/office/drawing/2014/main" id="{ABB6FA65-6F86-4176-9217-9EA2B9112ABA}"/>
              </a:ext>
            </a:extLst>
          </p:cNvPr>
          <p:cNvSpPr/>
          <p:nvPr/>
        </p:nvSpPr>
        <p:spPr>
          <a:xfrm>
            <a:off x="3124200" y="1752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22" name="Retângulo 21">
            <a:extLst>
              <a:ext uri="{FF2B5EF4-FFF2-40B4-BE49-F238E27FC236}">
                <a16:creationId xmlns:a16="http://schemas.microsoft.com/office/drawing/2014/main" id="{08E9C1E0-4BDD-4849-A0DA-BCCF38D3C433}"/>
              </a:ext>
            </a:extLst>
          </p:cNvPr>
          <p:cNvSpPr/>
          <p:nvPr/>
        </p:nvSpPr>
        <p:spPr>
          <a:xfrm>
            <a:off x="3657600" y="1752600"/>
            <a:ext cx="495300" cy="381000"/>
          </a:xfrm>
          <a:prstGeom prst="rect">
            <a:avLst/>
          </a:prstGeom>
          <a:solidFill>
            <a:srgbClr val="FFAB4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23" name="Retângulo 22">
            <a:extLst>
              <a:ext uri="{FF2B5EF4-FFF2-40B4-BE49-F238E27FC236}">
                <a16:creationId xmlns:a16="http://schemas.microsoft.com/office/drawing/2014/main" id="{9F126CD5-902E-498E-9561-53CF4496FA50}"/>
              </a:ext>
            </a:extLst>
          </p:cNvPr>
          <p:cNvSpPr/>
          <p:nvPr/>
        </p:nvSpPr>
        <p:spPr>
          <a:xfrm>
            <a:off x="4191000" y="1752600"/>
            <a:ext cx="495300" cy="381000"/>
          </a:xfrm>
          <a:prstGeom prst="rect">
            <a:avLst/>
          </a:prstGeom>
          <a:solidFill>
            <a:srgbClr val="FFAB4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24" name="Retângulo 23">
            <a:extLst>
              <a:ext uri="{FF2B5EF4-FFF2-40B4-BE49-F238E27FC236}">
                <a16:creationId xmlns:a16="http://schemas.microsoft.com/office/drawing/2014/main" id="{7416C45B-78D0-4521-86EB-B9FBAA8208EF}"/>
              </a:ext>
            </a:extLst>
          </p:cNvPr>
          <p:cNvSpPr/>
          <p:nvPr/>
        </p:nvSpPr>
        <p:spPr>
          <a:xfrm>
            <a:off x="4724400" y="1752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25" name="Retângulo 24">
            <a:extLst>
              <a:ext uri="{FF2B5EF4-FFF2-40B4-BE49-F238E27FC236}">
                <a16:creationId xmlns:a16="http://schemas.microsoft.com/office/drawing/2014/main" id="{8E04EA28-0C19-4DEC-9467-0B631D1B0AA3}"/>
              </a:ext>
            </a:extLst>
          </p:cNvPr>
          <p:cNvSpPr/>
          <p:nvPr/>
        </p:nvSpPr>
        <p:spPr>
          <a:xfrm>
            <a:off x="5257800" y="1752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26" name="Retângulo 25">
            <a:extLst>
              <a:ext uri="{FF2B5EF4-FFF2-40B4-BE49-F238E27FC236}">
                <a16:creationId xmlns:a16="http://schemas.microsoft.com/office/drawing/2014/main" id="{72058EE3-E1A3-460E-9304-0E81D0D3B380}"/>
              </a:ext>
            </a:extLst>
          </p:cNvPr>
          <p:cNvSpPr/>
          <p:nvPr/>
        </p:nvSpPr>
        <p:spPr>
          <a:xfrm>
            <a:off x="5791200" y="1752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27" name="Retângulo 26">
            <a:extLst>
              <a:ext uri="{FF2B5EF4-FFF2-40B4-BE49-F238E27FC236}">
                <a16:creationId xmlns:a16="http://schemas.microsoft.com/office/drawing/2014/main" id="{EFB0F435-4773-46EB-A30E-A2C5DE4F9E0C}"/>
              </a:ext>
            </a:extLst>
          </p:cNvPr>
          <p:cNvSpPr/>
          <p:nvPr/>
        </p:nvSpPr>
        <p:spPr>
          <a:xfrm>
            <a:off x="6324600" y="1752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28" name="Retângulo 27">
            <a:extLst>
              <a:ext uri="{FF2B5EF4-FFF2-40B4-BE49-F238E27FC236}">
                <a16:creationId xmlns:a16="http://schemas.microsoft.com/office/drawing/2014/main" id="{42059A4E-A25F-4E3F-BB17-693D1E71505B}"/>
              </a:ext>
            </a:extLst>
          </p:cNvPr>
          <p:cNvSpPr/>
          <p:nvPr/>
        </p:nvSpPr>
        <p:spPr>
          <a:xfrm>
            <a:off x="6858000" y="1752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29" name="Retângulo 28">
            <a:extLst>
              <a:ext uri="{FF2B5EF4-FFF2-40B4-BE49-F238E27FC236}">
                <a16:creationId xmlns:a16="http://schemas.microsoft.com/office/drawing/2014/main" id="{392F7469-BD71-4936-9000-DA213F57AFDB}"/>
              </a:ext>
            </a:extLst>
          </p:cNvPr>
          <p:cNvSpPr/>
          <p:nvPr/>
        </p:nvSpPr>
        <p:spPr>
          <a:xfrm>
            <a:off x="7391400" y="1752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0" name="CaixaDeTexto 29">
            <a:extLst>
              <a:ext uri="{FF2B5EF4-FFF2-40B4-BE49-F238E27FC236}">
                <a16:creationId xmlns:a16="http://schemas.microsoft.com/office/drawing/2014/main" id="{45FD8F70-1E68-4FFD-8F01-FE6792D2F1EE}"/>
              </a:ext>
            </a:extLst>
          </p:cNvPr>
          <p:cNvSpPr txBox="1"/>
          <p:nvPr/>
        </p:nvSpPr>
        <p:spPr>
          <a:xfrm>
            <a:off x="558800" y="2311400"/>
            <a:ext cx="889000" cy="304800"/>
          </a:xfrm>
          <a:prstGeom prst="rect">
            <a:avLst/>
          </a:prstGeom>
          <a:noFill/>
        </p:spPr>
        <p:txBody>
          <a:bodyPr vertOverflow="overflow" vert="horz" wrap="square" rtlCol="0" anchor="t">
            <a:spAutoFit/>
          </a:bodyPr>
          <a:lstStyle/>
          <a:p>
            <a:pPr algn="l"/>
            <a:r>
              <a:rPr lang="pt-BR" sz="1300" b="1">
                <a:solidFill>
                  <a:srgbClr val="37474F"/>
                </a:solidFill>
              </a:rPr>
              <a:t>Fold 2</a:t>
            </a:r>
          </a:p>
        </p:txBody>
      </p:sp>
      <p:sp>
        <p:nvSpPr>
          <p:cNvPr id="31" name="Retângulo 30">
            <a:extLst>
              <a:ext uri="{FF2B5EF4-FFF2-40B4-BE49-F238E27FC236}">
                <a16:creationId xmlns:a16="http://schemas.microsoft.com/office/drawing/2014/main" id="{1AAD093F-2D2F-4ABE-98B1-507F21524C9E}"/>
              </a:ext>
            </a:extLst>
          </p:cNvPr>
          <p:cNvSpPr/>
          <p:nvPr/>
        </p:nvSpPr>
        <p:spPr>
          <a:xfrm>
            <a:off x="1524000" y="2260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2" name="Retângulo 31">
            <a:extLst>
              <a:ext uri="{FF2B5EF4-FFF2-40B4-BE49-F238E27FC236}">
                <a16:creationId xmlns:a16="http://schemas.microsoft.com/office/drawing/2014/main" id="{7EA26FBF-2BAE-4030-BCD8-598BC0A7B065}"/>
              </a:ext>
            </a:extLst>
          </p:cNvPr>
          <p:cNvSpPr/>
          <p:nvPr/>
        </p:nvSpPr>
        <p:spPr>
          <a:xfrm>
            <a:off x="2057400" y="2260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3" name="Retângulo 32">
            <a:extLst>
              <a:ext uri="{FF2B5EF4-FFF2-40B4-BE49-F238E27FC236}">
                <a16:creationId xmlns:a16="http://schemas.microsoft.com/office/drawing/2014/main" id="{FD98724F-D33F-4A10-BF46-FC45D9C131D8}"/>
              </a:ext>
            </a:extLst>
          </p:cNvPr>
          <p:cNvSpPr/>
          <p:nvPr/>
        </p:nvSpPr>
        <p:spPr>
          <a:xfrm>
            <a:off x="2590800" y="2260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4" name="Retângulo 33">
            <a:extLst>
              <a:ext uri="{FF2B5EF4-FFF2-40B4-BE49-F238E27FC236}">
                <a16:creationId xmlns:a16="http://schemas.microsoft.com/office/drawing/2014/main" id="{BCB74913-C87F-42EF-842D-5D8A98D02806}"/>
              </a:ext>
            </a:extLst>
          </p:cNvPr>
          <p:cNvSpPr/>
          <p:nvPr/>
        </p:nvSpPr>
        <p:spPr>
          <a:xfrm>
            <a:off x="3124200" y="2260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5" name="Retângulo 34">
            <a:extLst>
              <a:ext uri="{FF2B5EF4-FFF2-40B4-BE49-F238E27FC236}">
                <a16:creationId xmlns:a16="http://schemas.microsoft.com/office/drawing/2014/main" id="{3DD7C5F8-A746-4F17-A97A-212EE46BD7A5}"/>
              </a:ext>
            </a:extLst>
          </p:cNvPr>
          <p:cNvSpPr/>
          <p:nvPr/>
        </p:nvSpPr>
        <p:spPr>
          <a:xfrm>
            <a:off x="3657600" y="2260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6" name="Retângulo 35">
            <a:extLst>
              <a:ext uri="{FF2B5EF4-FFF2-40B4-BE49-F238E27FC236}">
                <a16:creationId xmlns:a16="http://schemas.microsoft.com/office/drawing/2014/main" id="{600C0132-D95A-44F0-9F05-A9F6C44EB82E}"/>
              </a:ext>
            </a:extLst>
          </p:cNvPr>
          <p:cNvSpPr/>
          <p:nvPr/>
        </p:nvSpPr>
        <p:spPr>
          <a:xfrm>
            <a:off x="4191000" y="2260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7" name="Retângulo 36">
            <a:extLst>
              <a:ext uri="{FF2B5EF4-FFF2-40B4-BE49-F238E27FC236}">
                <a16:creationId xmlns:a16="http://schemas.microsoft.com/office/drawing/2014/main" id="{21B53119-5C26-41D5-8BCC-A6B4A9531BF0}"/>
              </a:ext>
            </a:extLst>
          </p:cNvPr>
          <p:cNvSpPr/>
          <p:nvPr/>
        </p:nvSpPr>
        <p:spPr>
          <a:xfrm>
            <a:off x="4724400" y="2260600"/>
            <a:ext cx="495300" cy="381000"/>
          </a:xfrm>
          <a:prstGeom prst="rect">
            <a:avLst/>
          </a:prstGeom>
          <a:solidFill>
            <a:srgbClr val="FFAB4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8" name="Retângulo 37">
            <a:extLst>
              <a:ext uri="{FF2B5EF4-FFF2-40B4-BE49-F238E27FC236}">
                <a16:creationId xmlns:a16="http://schemas.microsoft.com/office/drawing/2014/main" id="{302C1470-0A63-488D-BA9F-22962A7FEDF1}"/>
              </a:ext>
            </a:extLst>
          </p:cNvPr>
          <p:cNvSpPr/>
          <p:nvPr/>
        </p:nvSpPr>
        <p:spPr>
          <a:xfrm>
            <a:off x="5257800" y="2260600"/>
            <a:ext cx="495300" cy="381000"/>
          </a:xfrm>
          <a:prstGeom prst="rect">
            <a:avLst/>
          </a:prstGeom>
          <a:solidFill>
            <a:srgbClr val="FFAB4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9" name="Retângulo 38">
            <a:extLst>
              <a:ext uri="{FF2B5EF4-FFF2-40B4-BE49-F238E27FC236}">
                <a16:creationId xmlns:a16="http://schemas.microsoft.com/office/drawing/2014/main" id="{0A074395-8122-4F09-AED7-9D942F272620}"/>
              </a:ext>
            </a:extLst>
          </p:cNvPr>
          <p:cNvSpPr/>
          <p:nvPr/>
        </p:nvSpPr>
        <p:spPr>
          <a:xfrm>
            <a:off x="5791200" y="2260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40" name="Retângulo 39">
            <a:extLst>
              <a:ext uri="{FF2B5EF4-FFF2-40B4-BE49-F238E27FC236}">
                <a16:creationId xmlns:a16="http://schemas.microsoft.com/office/drawing/2014/main" id="{8738B14C-3D81-4387-B611-B2449C1C34F8}"/>
              </a:ext>
            </a:extLst>
          </p:cNvPr>
          <p:cNvSpPr/>
          <p:nvPr/>
        </p:nvSpPr>
        <p:spPr>
          <a:xfrm>
            <a:off x="6324600" y="2260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41" name="Retângulo 40">
            <a:extLst>
              <a:ext uri="{FF2B5EF4-FFF2-40B4-BE49-F238E27FC236}">
                <a16:creationId xmlns:a16="http://schemas.microsoft.com/office/drawing/2014/main" id="{EF0C05F6-A581-469A-874D-BCAD747E248A}"/>
              </a:ext>
            </a:extLst>
          </p:cNvPr>
          <p:cNvSpPr/>
          <p:nvPr/>
        </p:nvSpPr>
        <p:spPr>
          <a:xfrm>
            <a:off x="6858000" y="2260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42" name="Retângulo 41">
            <a:extLst>
              <a:ext uri="{FF2B5EF4-FFF2-40B4-BE49-F238E27FC236}">
                <a16:creationId xmlns:a16="http://schemas.microsoft.com/office/drawing/2014/main" id="{6E088F87-3F92-4AF1-970B-D123BE113A90}"/>
              </a:ext>
            </a:extLst>
          </p:cNvPr>
          <p:cNvSpPr/>
          <p:nvPr/>
        </p:nvSpPr>
        <p:spPr>
          <a:xfrm>
            <a:off x="7391400" y="2260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43" name="CaixaDeTexto 42">
            <a:extLst>
              <a:ext uri="{FF2B5EF4-FFF2-40B4-BE49-F238E27FC236}">
                <a16:creationId xmlns:a16="http://schemas.microsoft.com/office/drawing/2014/main" id="{7FE74A21-B6B1-47A7-95B3-36FBEBF238E3}"/>
              </a:ext>
            </a:extLst>
          </p:cNvPr>
          <p:cNvSpPr txBox="1"/>
          <p:nvPr/>
        </p:nvSpPr>
        <p:spPr>
          <a:xfrm>
            <a:off x="558800" y="2819400"/>
            <a:ext cx="889000" cy="304800"/>
          </a:xfrm>
          <a:prstGeom prst="rect">
            <a:avLst/>
          </a:prstGeom>
          <a:noFill/>
        </p:spPr>
        <p:txBody>
          <a:bodyPr vertOverflow="overflow" vert="horz" wrap="square" rtlCol="0" anchor="t">
            <a:spAutoFit/>
          </a:bodyPr>
          <a:lstStyle/>
          <a:p>
            <a:pPr algn="l"/>
            <a:r>
              <a:rPr lang="pt-BR" sz="1300" b="1">
                <a:solidFill>
                  <a:srgbClr val="37474F"/>
                </a:solidFill>
              </a:rPr>
              <a:t>Fold 3</a:t>
            </a:r>
          </a:p>
        </p:txBody>
      </p:sp>
      <p:sp>
        <p:nvSpPr>
          <p:cNvPr id="44" name="Retângulo 43">
            <a:extLst>
              <a:ext uri="{FF2B5EF4-FFF2-40B4-BE49-F238E27FC236}">
                <a16:creationId xmlns:a16="http://schemas.microsoft.com/office/drawing/2014/main" id="{256EEC1A-231E-4E01-8C07-5E4E8F04D38F}"/>
              </a:ext>
            </a:extLst>
          </p:cNvPr>
          <p:cNvSpPr/>
          <p:nvPr/>
        </p:nvSpPr>
        <p:spPr>
          <a:xfrm>
            <a:off x="1524000" y="2768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45" name="Retângulo 44">
            <a:extLst>
              <a:ext uri="{FF2B5EF4-FFF2-40B4-BE49-F238E27FC236}">
                <a16:creationId xmlns:a16="http://schemas.microsoft.com/office/drawing/2014/main" id="{2E50E984-EB7F-4D7F-A322-B9CFB547A86B}"/>
              </a:ext>
            </a:extLst>
          </p:cNvPr>
          <p:cNvSpPr/>
          <p:nvPr/>
        </p:nvSpPr>
        <p:spPr>
          <a:xfrm>
            <a:off x="2057400" y="2768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46" name="Retângulo 45">
            <a:extLst>
              <a:ext uri="{FF2B5EF4-FFF2-40B4-BE49-F238E27FC236}">
                <a16:creationId xmlns:a16="http://schemas.microsoft.com/office/drawing/2014/main" id="{5FCF81C1-E8CF-4595-92E3-E08D4F49BAE4}"/>
              </a:ext>
            </a:extLst>
          </p:cNvPr>
          <p:cNvSpPr/>
          <p:nvPr/>
        </p:nvSpPr>
        <p:spPr>
          <a:xfrm>
            <a:off x="2590800" y="2768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47" name="Retângulo 46">
            <a:extLst>
              <a:ext uri="{FF2B5EF4-FFF2-40B4-BE49-F238E27FC236}">
                <a16:creationId xmlns:a16="http://schemas.microsoft.com/office/drawing/2014/main" id="{B7492112-5CEF-402C-BB6D-75010A46DCA7}"/>
              </a:ext>
            </a:extLst>
          </p:cNvPr>
          <p:cNvSpPr/>
          <p:nvPr/>
        </p:nvSpPr>
        <p:spPr>
          <a:xfrm>
            <a:off x="3124200" y="2768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48" name="Retângulo 47">
            <a:extLst>
              <a:ext uri="{FF2B5EF4-FFF2-40B4-BE49-F238E27FC236}">
                <a16:creationId xmlns:a16="http://schemas.microsoft.com/office/drawing/2014/main" id="{5E5692F1-C5DA-472F-A394-DD665EBAD51D}"/>
              </a:ext>
            </a:extLst>
          </p:cNvPr>
          <p:cNvSpPr/>
          <p:nvPr/>
        </p:nvSpPr>
        <p:spPr>
          <a:xfrm>
            <a:off x="3657600" y="2768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49" name="Retângulo 48">
            <a:extLst>
              <a:ext uri="{FF2B5EF4-FFF2-40B4-BE49-F238E27FC236}">
                <a16:creationId xmlns:a16="http://schemas.microsoft.com/office/drawing/2014/main" id="{8564773B-F4FB-4BFD-8B91-10BBA8C1E929}"/>
              </a:ext>
            </a:extLst>
          </p:cNvPr>
          <p:cNvSpPr/>
          <p:nvPr/>
        </p:nvSpPr>
        <p:spPr>
          <a:xfrm>
            <a:off x="4191000" y="2768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50" name="Retângulo 49">
            <a:extLst>
              <a:ext uri="{FF2B5EF4-FFF2-40B4-BE49-F238E27FC236}">
                <a16:creationId xmlns:a16="http://schemas.microsoft.com/office/drawing/2014/main" id="{4CA1BF10-54B7-4277-9855-549FF486448E}"/>
              </a:ext>
            </a:extLst>
          </p:cNvPr>
          <p:cNvSpPr/>
          <p:nvPr/>
        </p:nvSpPr>
        <p:spPr>
          <a:xfrm>
            <a:off x="4724400" y="2768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51" name="Retângulo 50">
            <a:extLst>
              <a:ext uri="{FF2B5EF4-FFF2-40B4-BE49-F238E27FC236}">
                <a16:creationId xmlns:a16="http://schemas.microsoft.com/office/drawing/2014/main" id="{16CE4F48-BC5F-460D-96D8-B3EFA365ACD1}"/>
              </a:ext>
            </a:extLst>
          </p:cNvPr>
          <p:cNvSpPr/>
          <p:nvPr/>
        </p:nvSpPr>
        <p:spPr>
          <a:xfrm>
            <a:off x="5257800" y="2768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52" name="Retângulo 51">
            <a:extLst>
              <a:ext uri="{FF2B5EF4-FFF2-40B4-BE49-F238E27FC236}">
                <a16:creationId xmlns:a16="http://schemas.microsoft.com/office/drawing/2014/main" id="{54EF837B-9E04-4966-AEC2-2AF04E510282}"/>
              </a:ext>
            </a:extLst>
          </p:cNvPr>
          <p:cNvSpPr/>
          <p:nvPr/>
        </p:nvSpPr>
        <p:spPr>
          <a:xfrm>
            <a:off x="5791200" y="2768600"/>
            <a:ext cx="495300" cy="381000"/>
          </a:xfrm>
          <a:prstGeom prst="rect">
            <a:avLst/>
          </a:prstGeom>
          <a:solidFill>
            <a:srgbClr val="FFAB4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53" name="Retângulo 52">
            <a:extLst>
              <a:ext uri="{FF2B5EF4-FFF2-40B4-BE49-F238E27FC236}">
                <a16:creationId xmlns:a16="http://schemas.microsoft.com/office/drawing/2014/main" id="{DF533A92-02EB-4857-B444-BEA7EE5C27AB}"/>
              </a:ext>
            </a:extLst>
          </p:cNvPr>
          <p:cNvSpPr/>
          <p:nvPr/>
        </p:nvSpPr>
        <p:spPr>
          <a:xfrm>
            <a:off x="6324600" y="2768600"/>
            <a:ext cx="495300" cy="381000"/>
          </a:xfrm>
          <a:prstGeom prst="rect">
            <a:avLst/>
          </a:prstGeom>
          <a:solidFill>
            <a:srgbClr val="FFAB4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54" name="Retângulo 53">
            <a:extLst>
              <a:ext uri="{FF2B5EF4-FFF2-40B4-BE49-F238E27FC236}">
                <a16:creationId xmlns:a16="http://schemas.microsoft.com/office/drawing/2014/main" id="{91BF8586-F340-4A38-97AF-32C270ECF888}"/>
              </a:ext>
            </a:extLst>
          </p:cNvPr>
          <p:cNvSpPr/>
          <p:nvPr/>
        </p:nvSpPr>
        <p:spPr>
          <a:xfrm>
            <a:off x="6858000" y="2768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55" name="Retângulo 54">
            <a:extLst>
              <a:ext uri="{FF2B5EF4-FFF2-40B4-BE49-F238E27FC236}">
                <a16:creationId xmlns:a16="http://schemas.microsoft.com/office/drawing/2014/main" id="{7E0E9146-58C6-46A7-995A-B4F2D2DA9E95}"/>
              </a:ext>
            </a:extLst>
          </p:cNvPr>
          <p:cNvSpPr/>
          <p:nvPr/>
        </p:nvSpPr>
        <p:spPr>
          <a:xfrm>
            <a:off x="7391400" y="2768600"/>
            <a:ext cx="495300" cy="381000"/>
          </a:xfrm>
          <a:prstGeom prst="rect">
            <a:avLst/>
          </a:prstGeom>
          <a:solidFill>
            <a:srgbClr val="E0E0E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56" name="CaixaDeTexto 55">
            <a:extLst>
              <a:ext uri="{FF2B5EF4-FFF2-40B4-BE49-F238E27FC236}">
                <a16:creationId xmlns:a16="http://schemas.microsoft.com/office/drawing/2014/main" id="{DCFC1E12-87A7-4CBE-AA17-00E77882142B}"/>
              </a:ext>
            </a:extLst>
          </p:cNvPr>
          <p:cNvSpPr txBox="1"/>
          <p:nvPr/>
        </p:nvSpPr>
        <p:spPr>
          <a:xfrm>
            <a:off x="558800" y="3327400"/>
            <a:ext cx="889000" cy="304800"/>
          </a:xfrm>
          <a:prstGeom prst="rect">
            <a:avLst/>
          </a:prstGeom>
          <a:noFill/>
        </p:spPr>
        <p:txBody>
          <a:bodyPr vertOverflow="overflow" vert="horz" wrap="square" rtlCol="0" anchor="t">
            <a:spAutoFit/>
          </a:bodyPr>
          <a:lstStyle/>
          <a:p>
            <a:pPr algn="l"/>
            <a:r>
              <a:rPr lang="pt-BR" sz="1300" b="1">
                <a:solidFill>
                  <a:srgbClr val="37474F"/>
                </a:solidFill>
              </a:rPr>
              <a:t>Fold 4</a:t>
            </a:r>
          </a:p>
        </p:txBody>
      </p:sp>
      <p:sp>
        <p:nvSpPr>
          <p:cNvPr id="57" name="Retângulo 56">
            <a:extLst>
              <a:ext uri="{FF2B5EF4-FFF2-40B4-BE49-F238E27FC236}">
                <a16:creationId xmlns:a16="http://schemas.microsoft.com/office/drawing/2014/main" id="{38B947D7-A588-4FD7-9CED-1109481F26E1}"/>
              </a:ext>
            </a:extLst>
          </p:cNvPr>
          <p:cNvSpPr/>
          <p:nvPr/>
        </p:nvSpPr>
        <p:spPr>
          <a:xfrm>
            <a:off x="1524000" y="3276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58" name="Retângulo 57">
            <a:extLst>
              <a:ext uri="{FF2B5EF4-FFF2-40B4-BE49-F238E27FC236}">
                <a16:creationId xmlns:a16="http://schemas.microsoft.com/office/drawing/2014/main" id="{5A535990-1EBA-45B0-B887-EF94C5737C57}"/>
              </a:ext>
            </a:extLst>
          </p:cNvPr>
          <p:cNvSpPr/>
          <p:nvPr/>
        </p:nvSpPr>
        <p:spPr>
          <a:xfrm>
            <a:off x="2057400" y="3276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59" name="Retângulo 58">
            <a:extLst>
              <a:ext uri="{FF2B5EF4-FFF2-40B4-BE49-F238E27FC236}">
                <a16:creationId xmlns:a16="http://schemas.microsoft.com/office/drawing/2014/main" id="{64EB0E55-76B4-4C46-AFBD-0350A4D30887}"/>
              </a:ext>
            </a:extLst>
          </p:cNvPr>
          <p:cNvSpPr/>
          <p:nvPr/>
        </p:nvSpPr>
        <p:spPr>
          <a:xfrm>
            <a:off x="2590800" y="3276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60" name="Retângulo 59">
            <a:extLst>
              <a:ext uri="{FF2B5EF4-FFF2-40B4-BE49-F238E27FC236}">
                <a16:creationId xmlns:a16="http://schemas.microsoft.com/office/drawing/2014/main" id="{C7013469-D5CD-4824-9A81-14A4CB7F1E51}"/>
              </a:ext>
            </a:extLst>
          </p:cNvPr>
          <p:cNvSpPr/>
          <p:nvPr/>
        </p:nvSpPr>
        <p:spPr>
          <a:xfrm>
            <a:off x="3124200" y="3276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61" name="Retângulo 60">
            <a:extLst>
              <a:ext uri="{FF2B5EF4-FFF2-40B4-BE49-F238E27FC236}">
                <a16:creationId xmlns:a16="http://schemas.microsoft.com/office/drawing/2014/main" id="{2CB76838-C1DB-4DFD-9B30-C0BC5296AB47}"/>
              </a:ext>
            </a:extLst>
          </p:cNvPr>
          <p:cNvSpPr/>
          <p:nvPr/>
        </p:nvSpPr>
        <p:spPr>
          <a:xfrm>
            <a:off x="3657600" y="3276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62" name="Retângulo 61">
            <a:extLst>
              <a:ext uri="{FF2B5EF4-FFF2-40B4-BE49-F238E27FC236}">
                <a16:creationId xmlns:a16="http://schemas.microsoft.com/office/drawing/2014/main" id="{97735FB1-CFAD-4AE0-BDE9-D4BAFE8983AB}"/>
              </a:ext>
            </a:extLst>
          </p:cNvPr>
          <p:cNvSpPr/>
          <p:nvPr/>
        </p:nvSpPr>
        <p:spPr>
          <a:xfrm>
            <a:off x="4191000" y="3276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63" name="Retângulo 62">
            <a:extLst>
              <a:ext uri="{FF2B5EF4-FFF2-40B4-BE49-F238E27FC236}">
                <a16:creationId xmlns:a16="http://schemas.microsoft.com/office/drawing/2014/main" id="{0581A835-1F66-4175-B587-F1C6CA586F97}"/>
              </a:ext>
            </a:extLst>
          </p:cNvPr>
          <p:cNvSpPr/>
          <p:nvPr/>
        </p:nvSpPr>
        <p:spPr>
          <a:xfrm>
            <a:off x="4724400" y="3276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64" name="Retângulo 63">
            <a:extLst>
              <a:ext uri="{FF2B5EF4-FFF2-40B4-BE49-F238E27FC236}">
                <a16:creationId xmlns:a16="http://schemas.microsoft.com/office/drawing/2014/main" id="{8BCC0362-6637-42B0-B09A-84C72AB84154}"/>
              </a:ext>
            </a:extLst>
          </p:cNvPr>
          <p:cNvSpPr/>
          <p:nvPr/>
        </p:nvSpPr>
        <p:spPr>
          <a:xfrm>
            <a:off x="5257800" y="3276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65" name="Retângulo 64">
            <a:extLst>
              <a:ext uri="{FF2B5EF4-FFF2-40B4-BE49-F238E27FC236}">
                <a16:creationId xmlns:a16="http://schemas.microsoft.com/office/drawing/2014/main" id="{72EC2EEF-6BAA-4CC9-8B6E-DF0CBF174C6F}"/>
              </a:ext>
            </a:extLst>
          </p:cNvPr>
          <p:cNvSpPr/>
          <p:nvPr/>
        </p:nvSpPr>
        <p:spPr>
          <a:xfrm>
            <a:off x="5791200" y="3276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66" name="Retângulo 65">
            <a:extLst>
              <a:ext uri="{FF2B5EF4-FFF2-40B4-BE49-F238E27FC236}">
                <a16:creationId xmlns:a16="http://schemas.microsoft.com/office/drawing/2014/main" id="{94CF182F-207F-4F87-AD6D-C16EC34EC31A}"/>
              </a:ext>
            </a:extLst>
          </p:cNvPr>
          <p:cNvSpPr/>
          <p:nvPr/>
        </p:nvSpPr>
        <p:spPr>
          <a:xfrm>
            <a:off x="6324600" y="3276600"/>
            <a:ext cx="495300" cy="381000"/>
          </a:xfrm>
          <a:prstGeom prst="rect">
            <a:avLst/>
          </a:prstGeom>
          <a:solidFill>
            <a:srgbClr val="4285F4"/>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67" name="Retângulo 66">
            <a:extLst>
              <a:ext uri="{FF2B5EF4-FFF2-40B4-BE49-F238E27FC236}">
                <a16:creationId xmlns:a16="http://schemas.microsoft.com/office/drawing/2014/main" id="{7A296256-13CF-41D2-8213-453DA82B16D4}"/>
              </a:ext>
            </a:extLst>
          </p:cNvPr>
          <p:cNvSpPr/>
          <p:nvPr/>
        </p:nvSpPr>
        <p:spPr>
          <a:xfrm>
            <a:off x="6858000" y="3276600"/>
            <a:ext cx="495300" cy="381000"/>
          </a:xfrm>
          <a:prstGeom prst="rect">
            <a:avLst/>
          </a:prstGeom>
          <a:solidFill>
            <a:srgbClr val="FFAB4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68" name="Retângulo 67">
            <a:extLst>
              <a:ext uri="{FF2B5EF4-FFF2-40B4-BE49-F238E27FC236}">
                <a16:creationId xmlns:a16="http://schemas.microsoft.com/office/drawing/2014/main" id="{D390F3F8-0E3A-40D9-BFA7-B8CC4151B7DB}"/>
              </a:ext>
            </a:extLst>
          </p:cNvPr>
          <p:cNvSpPr/>
          <p:nvPr/>
        </p:nvSpPr>
        <p:spPr>
          <a:xfrm>
            <a:off x="7391400" y="3276600"/>
            <a:ext cx="495300" cy="381000"/>
          </a:xfrm>
          <a:prstGeom prst="rect">
            <a:avLst/>
          </a:prstGeom>
          <a:solidFill>
            <a:srgbClr val="FFAB40"/>
          </a:solidFill>
          <a:ln w="12700" cap="flat" cmpd="sng" algn="ctr">
            <a:solidFill>
              <a:srgbClr val="FFFFF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69" name="CaixaDeTexto 68">
            <a:extLst>
              <a:ext uri="{FF2B5EF4-FFF2-40B4-BE49-F238E27FC236}">
                <a16:creationId xmlns:a16="http://schemas.microsoft.com/office/drawing/2014/main" id="{AC35FE64-D276-4DE5-93C6-7D71E48B308B}"/>
              </a:ext>
            </a:extLst>
          </p:cNvPr>
          <p:cNvSpPr txBox="1"/>
          <p:nvPr/>
        </p:nvSpPr>
        <p:spPr>
          <a:xfrm>
            <a:off x="1524000" y="3810000"/>
            <a:ext cx="2540000" cy="254000"/>
          </a:xfrm>
          <a:prstGeom prst="rect">
            <a:avLst/>
          </a:prstGeom>
          <a:noFill/>
        </p:spPr>
        <p:txBody>
          <a:bodyPr vertOverflow="overflow" vert="horz" wrap="square" rtlCol="0" anchor="t">
            <a:spAutoFit/>
          </a:bodyPr>
          <a:lstStyle/>
          <a:p>
            <a:pPr algn="l"/>
            <a:r>
              <a:rPr lang="pt-BR" sz="1200" i="1">
                <a:solidFill>
                  <a:srgbClr val="37474F"/>
                </a:solidFill>
              </a:rPr>
              <a:t>tempo  →</a:t>
            </a:r>
          </a:p>
        </p:txBody>
      </p:sp>
      <p:sp>
        <p:nvSpPr>
          <p:cNvPr id="70" name="Retângulo 69">
            <a:extLst>
              <a:ext uri="{FF2B5EF4-FFF2-40B4-BE49-F238E27FC236}">
                <a16:creationId xmlns:a16="http://schemas.microsoft.com/office/drawing/2014/main" id="{FE0CD0A6-750D-464E-B724-85ACC1945C8E}"/>
              </a:ext>
            </a:extLst>
          </p:cNvPr>
          <p:cNvSpPr/>
          <p:nvPr/>
        </p:nvSpPr>
        <p:spPr>
          <a:xfrm>
            <a:off x="1524000" y="4165600"/>
            <a:ext cx="228600" cy="2286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71" name="CaixaDeTexto 70">
            <a:extLst>
              <a:ext uri="{FF2B5EF4-FFF2-40B4-BE49-F238E27FC236}">
                <a16:creationId xmlns:a16="http://schemas.microsoft.com/office/drawing/2014/main" id="{6D3E4016-0BBB-4BB8-838A-D9C0F67870A9}"/>
              </a:ext>
            </a:extLst>
          </p:cNvPr>
          <p:cNvSpPr txBox="1"/>
          <p:nvPr/>
        </p:nvSpPr>
        <p:spPr>
          <a:xfrm>
            <a:off x="1828800" y="4140200"/>
            <a:ext cx="1524000" cy="279400"/>
          </a:xfrm>
          <a:prstGeom prst="rect">
            <a:avLst/>
          </a:prstGeom>
          <a:noFill/>
        </p:spPr>
        <p:txBody>
          <a:bodyPr vertOverflow="overflow" vert="horz" wrap="square" rtlCol="0" anchor="t">
            <a:spAutoFit/>
          </a:bodyPr>
          <a:lstStyle/>
          <a:p>
            <a:pPr algn="l"/>
            <a:r>
              <a:rPr lang="pt-BR" sz="1300">
                <a:solidFill>
                  <a:srgbClr val="37474F"/>
                </a:solidFill>
              </a:rPr>
              <a:t>Treino</a:t>
            </a:r>
          </a:p>
        </p:txBody>
      </p:sp>
      <p:sp>
        <p:nvSpPr>
          <p:cNvPr id="72" name="Retângulo 71">
            <a:extLst>
              <a:ext uri="{FF2B5EF4-FFF2-40B4-BE49-F238E27FC236}">
                <a16:creationId xmlns:a16="http://schemas.microsoft.com/office/drawing/2014/main" id="{05BEF004-534C-4604-829A-2BC80094F7E8}"/>
              </a:ext>
            </a:extLst>
          </p:cNvPr>
          <p:cNvSpPr/>
          <p:nvPr/>
        </p:nvSpPr>
        <p:spPr>
          <a:xfrm>
            <a:off x="3810000" y="4165600"/>
            <a:ext cx="228600" cy="228600"/>
          </a:xfrm>
          <a:prstGeom prst="rect">
            <a:avLst/>
          </a:prstGeom>
          <a:solidFill>
            <a:srgbClr val="FFAB4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73" name="CaixaDeTexto 72">
            <a:extLst>
              <a:ext uri="{FF2B5EF4-FFF2-40B4-BE49-F238E27FC236}">
                <a16:creationId xmlns:a16="http://schemas.microsoft.com/office/drawing/2014/main" id="{F8DFC4C2-A36E-43B9-89E0-230E2A5B1385}"/>
              </a:ext>
            </a:extLst>
          </p:cNvPr>
          <p:cNvSpPr txBox="1"/>
          <p:nvPr/>
        </p:nvSpPr>
        <p:spPr>
          <a:xfrm>
            <a:off x="4114800" y="4140200"/>
            <a:ext cx="1524000" cy="279400"/>
          </a:xfrm>
          <a:prstGeom prst="rect">
            <a:avLst/>
          </a:prstGeom>
          <a:noFill/>
        </p:spPr>
        <p:txBody>
          <a:bodyPr vertOverflow="overflow" vert="horz" wrap="square" rtlCol="0" anchor="t">
            <a:spAutoFit/>
          </a:bodyPr>
          <a:lstStyle/>
          <a:p>
            <a:pPr algn="l"/>
            <a:r>
              <a:rPr lang="pt-BR" sz="1300">
                <a:solidFill>
                  <a:srgbClr val="37474F"/>
                </a:solidFill>
              </a:rPr>
              <a:t>Teste</a:t>
            </a:r>
          </a:p>
        </p:txBody>
      </p:sp>
      <p:sp>
        <p:nvSpPr>
          <p:cNvPr id="74" name="Retângulo 73">
            <a:extLst>
              <a:ext uri="{FF2B5EF4-FFF2-40B4-BE49-F238E27FC236}">
                <a16:creationId xmlns:a16="http://schemas.microsoft.com/office/drawing/2014/main" id="{FC82D66C-A3C1-4BBD-9013-7A30F67C7517}"/>
              </a:ext>
            </a:extLst>
          </p:cNvPr>
          <p:cNvSpPr/>
          <p:nvPr/>
        </p:nvSpPr>
        <p:spPr>
          <a:xfrm>
            <a:off x="5969000" y="4165600"/>
            <a:ext cx="228600" cy="228600"/>
          </a:xfrm>
          <a:prstGeom prst="rect">
            <a:avLst/>
          </a:prstGeom>
          <a:solidFill>
            <a:srgbClr val="E0E0E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75" name="CaixaDeTexto 74">
            <a:extLst>
              <a:ext uri="{FF2B5EF4-FFF2-40B4-BE49-F238E27FC236}">
                <a16:creationId xmlns:a16="http://schemas.microsoft.com/office/drawing/2014/main" id="{85673793-04BE-4CED-A76B-1A7631F137D1}"/>
              </a:ext>
            </a:extLst>
          </p:cNvPr>
          <p:cNvSpPr txBox="1"/>
          <p:nvPr/>
        </p:nvSpPr>
        <p:spPr>
          <a:xfrm>
            <a:off x="6273800" y="4140200"/>
            <a:ext cx="1778000" cy="279400"/>
          </a:xfrm>
          <a:prstGeom prst="rect">
            <a:avLst/>
          </a:prstGeom>
          <a:noFill/>
        </p:spPr>
        <p:txBody>
          <a:bodyPr vertOverflow="overflow" vert="horz" wrap="square" rtlCol="0" anchor="t">
            <a:spAutoFit/>
          </a:bodyPr>
          <a:lstStyle/>
          <a:p>
            <a:pPr algn="l"/>
            <a:r>
              <a:rPr lang="pt-BR" sz="1300">
                <a:solidFill>
                  <a:srgbClr val="37474F"/>
                </a:solidFill>
              </a:rPr>
              <a:t>Não usado</a:t>
            </a:r>
          </a:p>
        </p:txBody>
      </p:sp>
    </p:spTree>
    <p:extLst>
      <p:ext uri="{BB962C8B-B14F-4D97-AF65-F5344CB8AC3E}">
        <p14:creationId xmlns:p14="http://schemas.microsoft.com/office/powerpoint/2010/main" val="3959831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A442F91E-25A3-41A1-AA54-3CE98F02DBBA}"/>
              </a:ext>
            </a:extLst>
          </p:cNvPr>
          <p:cNvSpPr/>
          <p:nvPr/>
        </p:nvSpPr>
        <p:spPr>
          <a:xfrm>
            <a:off x="457200" y="406400"/>
            <a:ext cx="76200" cy="5588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 name="CaixaDeTexto 2">
            <a:extLst>
              <a:ext uri="{FF2B5EF4-FFF2-40B4-BE49-F238E27FC236}">
                <a16:creationId xmlns:a16="http://schemas.microsoft.com/office/drawing/2014/main" id="{18C8C59D-A5B3-4505-A562-4634A1FFA265}"/>
              </a:ext>
            </a:extLst>
          </p:cNvPr>
          <p:cNvSpPr txBox="1"/>
          <p:nvPr/>
        </p:nvSpPr>
        <p:spPr>
          <a:xfrm>
            <a:off x="660400" y="355600"/>
            <a:ext cx="8026400" cy="558800"/>
          </a:xfrm>
          <a:prstGeom prst="rect">
            <a:avLst/>
          </a:prstGeom>
          <a:noFill/>
        </p:spPr>
        <p:txBody>
          <a:bodyPr vertOverflow="overflow" vert="horz" wrap="square" rtlCol="0" anchor="t" anchorCtr="0">
            <a:spAutoFit/>
          </a:bodyPr>
          <a:lstStyle/>
          <a:p>
            <a:pPr algn="l"/>
            <a:r>
              <a:rPr lang="pt-BR" sz="2400" b="1">
                <a:solidFill>
                  <a:srgbClr val="212121"/>
                </a:solidFill>
              </a:rPr>
              <a:t>Exemplo 2 — controlando test_size e gap</a:t>
            </a:r>
          </a:p>
        </p:txBody>
      </p:sp>
      <p:sp>
        <p:nvSpPr>
          <p:cNvPr id="4" name="CaixaDeTexto 3">
            <a:extLst>
              <a:ext uri="{FF2B5EF4-FFF2-40B4-BE49-F238E27FC236}">
                <a16:creationId xmlns:a16="http://schemas.microsoft.com/office/drawing/2014/main" id="{C3FD8C3D-4C0C-4F9C-BE31-84451E163204}"/>
              </a:ext>
            </a:extLst>
          </p:cNvPr>
          <p:cNvSpPr txBox="1"/>
          <p:nvPr/>
        </p:nvSpPr>
        <p:spPr>
          <a:xfrm>
            <a:off x="558800" y="1016000"/>
            <a:ext cx="3810000" cy="228600"/>
          </a:xfrm>
          <a:prstGeom prst="rect">
            <a:avLst/>
          </a:prstGeom>
          <a:noFill/>
        </p:spPr>
        <p:txBody>
          <a:bodyPr vertOverflow="overflow" vert="horz" wrap="square" rtlCol="0" anchor="t">
            <a:spAutoFit/>
          </a:bodyPr>
          <a:lstStyle/>
          <a:p>
            <a:pPr algn="l"/>
            <a:r>
              <a:rPr lang="pt-BR" sz="1200" b="1">
                <a:solidFill>
                  <a:srgbClr val="37474F"/>
                </a:solidFill>
              </a:rPr>
              <a:t>Código</a:t>
            </a:r>
          </a:p>
        </p:txBody>
      </p:sp>
      <p:sp>
        <p:nvSpPr>
          <p:cNvPr id="5" name="Retângulo: Cantos Arredondados 4">
            <a:extLst>
              <a:ext uri="{FF2B5EF4-FFF2-40B4-BE49-F238E27FC236}">
                <a16:creationId xmlns:a16="http://schemas.microsoft.com/office/drawing/2014/main" id="{0FDBEDE9-D835-482F-B8BB-81A5153DF347}"/>
              </a:ext>
            </a:extLst>
          </p:cNvPr>
          <p:cNvSpPr/>
          <p:nvPr/>
        </p:nvSpPr>
        <p:spPr>
          <a:xfrm>
            <a:off x="558800" y="1270000"/>
            <a:ext cx="8026400" cy="1168400"/>
          </a:xfrm>
          <a:prstGeom prst="roundRect">
            <a:avLst/>
          </a:prstGeom>
          <a:solidFill>
            <a:srgbClr val="21212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pt-BR" sz="1250">
                <a:solidFill>
                  <a:srgbClr val="EAF2FF"/>
                </a:solidFill>
                <a:latin typeface="Consolas"/>
              </a:rPr>
              <a:t>X = np.arange(15).reshape(-1, 1)
tscv = TimeSeriesSplit(n_splits=3, test_size=2, gap=2)
for i, (tr, te) in enumerate(tscv.split(X)):
    print(f"Fold {i}: treino={tr}, teste={te}")</a:t>
            </a:r>
          </a:p>
        </p:txBody>
      </p:sp>
      <p:sp>
        <p:nvSpPr>
          <p:cNvPr id="6" name="CaixaDeTexto 5">
            <a:extLst>
              <a:ext uri="{FF2B5EF4-FFF2-40B4-BE49-F238E27FC236}">
                <a16:creationId xmlns:a16="http://schemas.microsoft.com/office/drawing/2014/main" id="{6790FEEF-F62B-44E4-BF60-EDEF3BE6F431}"/>
              </a:ext>
            </a:extLst>
          </p:cNvPr>
          <p:cNvSpPr txBox="1"/>
          <p:nvPr/>
        </p:nvSpPr>
        <p:spPr>
          <a:xfrm>
            <a:off x="558800" y="2590800"/>
            <a:ext cx="3810000" cy="228600"/>
          </a:xfrm>
          <a:prstGeom prst="rect">
            <a:avLst/>
          </a:prstGeom>
          <a:noFill/>
        </p:spPr>
        <p:txBody>
          <a:bodyPr vertOverflow="overflow" vert="horz" wrap="square" rtlCol="0" anchor="t">
            <a:spAutoFit/>
          </a:bodyPr>
          <a:lstStyle/>
          <a:p>
            <a:pPr algn="l"/>
            <a:r>
              <a:rPr lang="pt-BR" sz="1200" b="1">
                <a:solidFill>
                  <a:srgbClr val="37474F"/>
                </a:solidFill>
              </a:rPr>
              <a:t>Saída</a:t>
            </a:r>
          </a:p>
        </p:txBody>
      </p:sp>
      <p:sp>
        <p:nvSpPr>
          <p:cNvPr id="7" name="Retângulo: Cantos Arredondados 6">
            <a:extLst>
              <a:ext uri="{FF2B5EF4-FFF2-40B4-BE49-F238E27FC236}">
                <a16:creationId xmlns:a16="http://schemas.microsoft.com/office/drawing/2014/main" id="{A29CC4B1-C9AF-4DEE-A836-F97836AD4B7D}"/>
              </a:ext>
            </a:extLst>
          </p:cNvPr>
          <p:cNvSpPr/>
          <p:nvPr/>
        </p:nvSpPr>
        <p:spPr>
          <a:xfrm>
            <a:off x="558800" y="2844800"/>
            <a:ext cx="8026400" cy="990600"/>
          </a:xfrm>
          <a:prstGeom prst="roundRect">
            <a:avLst/>
          </a:prstGeom>
          <a:solidFill>
            <a:srgbClr val="2B3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nn-NO" sz="1250">
                <a:solidFill>
                  <a:srgbClr val="CDEAC0"/>
                </a:solidFill>
                <a:latin typeface="Consolas"/>
              </a:rPr>
              <a:t>Fold 0: treino=[0 1 2 3 4 5 6]         teste=[9 10]
Fold 1: treino=[0 1 2 3 4 5 6 7 8]     teste=[11 12]
Fold 2: treino=[0 1 2 3 4 5 6 7 8 9 10] teste=[13 14]</a:t>
            </a:r>
            <a:endParaRPr lang="pt-BR" sz="1250">
              <a:solidFill>
                <a:srgbClr val="CDEAC0"/>
              </a:solidFill>
              <a:latin typeface="Consolas"/>
            </a:endParaRPr>
          </a:p>
        </p:txBody>
      </p:sp>
      <p:sp>
        <p:nvSpPr>
          <p:cNvPr id="8" name="Retângulo: Cantos Arredondados 7">
            <a:extLst>
              <a:ext uri="{FF2B5EF4-FFF2-40B4-BE49-F238E27FC236}">
                <a16:creationId xmlns:a16="http://schemas.microsoft.com/office/drawing/2014/main" id="{F63C88B2-5510-44BC-8BF1-2F215D491402}"/>
              </a:ext>
            </a:extLst>
          </p:cNvPr>
          <p:cNvSpPr/>
          <p:nvPr/>
        </p:nvSpPr>
        <p:spPr>
          <a:xfrm>
            <a:off x="558800" y="3962400"/>
            <a:ext cx="8026400" cy="660400"/>
          </a:xfrm>
          <a:prstGeom prst="roundRect">
            <a:avLst/>
          </a:prstGeom>
          <a:solidFill>
            <a:srgbClr val="E8F0F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pt-BR" b="1">
                <a:solidFill>
                  <a:srgbClr val="1A56C4"/>
                </a:solidFill>
                <a:latin typeface="Arial"/>
                <a:cs typeface="Arial"/>
              </a:rPr>
              <a:t>gap=2 descarta as 2 amostras entre treino e teste (ex.: 7 e 8 no Fold 0), evitando vazamento quando os alvos usam janelas futuras.</a:t>
            </a:r>
          </a:p>
        </p:txBody>
      </p:sp>
    </p:spTree>
    <p:extLst>
      <p:ext uri="{BB962C8B-B14F-4D97-AF65-F5344CB8AC3E}">
        <p14:creationId xmlns:p14="http://schemas.microsoft.com/office/powerpoint/2010/main" val="1147025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E3539A3E-4A47-46D5-B1E4-CE3A0EFABB0A}"/>
              </a:ext>
            </a:extLst>
          </p:cNvPr>
          <p:cNvSpPr/>
          <p:nvPr/>
        </p:nvSpPr>
        <p:spPr>
          <a:xfrm>
            <a:off x="457200" y="406400"/>
            <a:ext cx="76200" cy="5588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 name="CaixaDeTexto 2">
            <a:extLst>
              <a:ext uri="{FF2B5EF4-FFF2-40B4-BE49-F238E27FC236}">
                <a16:creationId xmlns:a16="http://schemas.microsoft.com/office/drawing/2014/main" id="{2ED28B3D-E55B-434A-8CEC-8393493DB745}"/>
              </a:ext>
            </a:extLst>
          </p:cNvPr>
          <p:cNvSpPr txBox="1"/>
          <p:nvPr/>
        </p:nvSpPr>
        <p:spPr>
          <a:xfrm>
            <a:off x="660400" y="355600"/>
            <a:ext cx="8026400" cy="558800"/>
          </a:xfrm>
          <a:prstGeom prst="rect">
            <a:avLst/>
          </a:prstGeom>
          <a:noFill/>
        </p:spPr>
        <p:txBody>
          <a:bodyPr vertOverflow="overflow" vert="horz" wrap="square" rtlCol="0" anchor="t" anchorCtr="0">
            <a:spAutoFit/>
          </a:bodyPr>
          <a:lstStyle/>
          <a:p>
            <a:pPr algn="l"/>
            <a:r>
              <a:rPr lang="pt-BR" sz="2400" b="1">
                <a:solidFill>
                  <a:srgbClr val="212121"/>
                </a:solidFill>
              </a:rPr>
              <a:t>Exemplo 3 — janela deslizante com max_train_size</a:t>
            </a:r>
          </a:p>
        </p:txBody>
      </p:sp>
      <p:sp>
        <p:nvSpPr>
          <p:cNvPr id="4" name="CaixaDeTexto 3">
            <a:extLst>
              <a:ext uri="{FF2B5EF4-FFF2-40B4-BE49-F238E27FC236}">
                <a16:creationId xmlns:a16="http://schemas.microsoft.com/office/drawing/2014/main" id="{92CB8F1F-7AEB-4C97-8697-66A5819866E1}"/>
              </a:ext>
            </a:extLst>
          </p:cNvPr>
          <p:cNvSpPr txBox="1"/>
          <p:nvPr/>
        </p:nvSpPr>
        <p:spPr>
          <a:xfrm>
            <a:off x="558800" y="1016000"/>
            <a:ext cx="3810000" cy="228600"/>
          </a:xfrm>
          <a:prstGeom prst="rect">
            <a:avLst/>
          </a:prstGeom>
          <a:noFill/>
        </p:spPr>
        <p:txBody>
          <a:bodyPr vertOverflow="overflow" vert="horz" wrap="square" rtlCol="0" anchor="t">
            <a:spAutoFit/>
          </a:bodyPr>
          <a:lstStyle/>
          <a:p>
            <a:pPr algn="l"/>
            <a:r>
              <a:rPr lang="pt-BR" sz="1200" b="1">
                <a:solidFill>
                  <a:srgbClr val="37474F"/>
                </a:solidFill>
              </a:rPr>
              <a:t>Código</a:t>
            </a:r>
          </a:p>
        </p:txBody>
      </p:sp>
      <p:sp>
        <p:nvSpPr>
          <p:cNvPr id="5" name="Retângulo: Cantos Arredondados 4">
            <a:extLst>
              <a:ext uri="{FF2B5EF4-FFF2-40B4-BE49-F238E27FC236}">
                <a16:creationId xmlns:a16="http://schemas.microsoft.com/office/drawing/2014/main" id="{B12AA4EF-60C2-4864-9C09-53E32DEA6C7B}"/>
              </a:ext>
            </a:extLst>
          </p:cNvPr>
          <p:cNvSpPr/>
          <p:nvPr/>
        </p:nvSpPr>
        <p:spPr>
          <a:xfrm>
            <a:off x="558800" y="1270000"/>
            <a:ext cx="8026400" cy="1168400"/>
          </a:xfrm>
          <a:prstGeom prst="roundRect">
            <a:avLst/>
          </a:prstGeom>
          <a:solidFill>
            <a:srgbClr val="21212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pt-BR" sz="1250">
                <a:solidFill>
                  <a:srgbClr val="EAF2FF"/>
                </a:solidFill>
                <a:latin typeface="Consolas"/>
              </a:rPr>
              <a:t>X = np.arange(12).reshape(-1, 1)
tscv = TimeSeriesSplit(n_splits=3, max_train_size=4)
for i, (tr, te) in enumerate(tscv.split(X)):
    print(f"Fold {i}: treino={tr}, teste={te}")</a:t>
            </a:r>
          </a:p>
        </p:txBody>
      </p:sp>
      <p:sp>
        <p:nvSpPr>
          <p:cNvPr id="6" name="CaixaDeTexto 5">
            <a:extLst>
              <a:ext uri="{FF2B5EF4-FFF2-40B4-BE49-F238E27FC236}">
                <a16:creationId xmlns:a16="http://schemas.microsoft.com/office/drawing/2014/main" id="{0A614424-0E05-4C66-9899-F4D687CAEA41}"/>
              </a:ext>
            </a:extLst>
          </p:cNvPr>
          <p:cNvSpPr txBox="1"/>
          <p:nvPr/>
        </p:nvSpPr>
        <p:spPr>
          <a:xfrm>
            <a:off x="558800" y="2590800"/>
            <a:ext cx="3810000" cy="228600"/>
          </a:xfrm>
          <a:prstGeom prst="rect">
            <a:avLst/>
          </a:prstGeom>
          <a:noFill/>
        </p:spPr>
        <p:txBody>
          <a:bodyPr vertOverflow="overflow" vert="horz" wrap="square" rtlCol="0" anchor="t">
            <a:spAutoFit/>
          </a:bodyPr>
          <a:lstStyle/>
          <a:p>
            <a:pPr algn="l"/>
            <a:r>
              <a:rPr lang="pt-BR" sz="1200" b="1">
                <a:solidFill>
                  <a:srgbClr val="37474F"/>
                </a:solidFill>
              </a:rPr>
              <a:t>Saída</a:t>
            </a:r>
          </a:p>
        </p:txBody>
      </p:sp>
      <p:sp>
        <p:nvSpPr>
          <p:cNvPr id="7" name="Retângulo: Cantos Arredondados 6">
            <a:extLst>
              <a:ext uri="{FF2B5EF4-FFF2-40B4-BE49-F238E27FC236}">
                <a16:creationId xmlns:a16="http://schemas.microsoft.com/office/drawing/2014/main" id="{15BCDB4F-3B44-4AD2-8F8D-3EB8BF35E62F}"/>
              </a:ext>
            </a:extLst>
          </p:cNvPr>
          <p:cNvSpPr/>
          <p:nvPr/>
        </p:nvSpPr>
        <p:spPr>
          <a:xfrm>
            <a:off x="558800" y="2844800"/>
            <a:ext cx="8026400" cy="990600"/>
          </a:xfrm>
          <a:prstGeom prst="roundRect">
            <a:avLst/>
          </a:prstGeom>
          <a:solidFill>
            <a:srgbClr val="2B3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nn-NO" sz="1250">
                <a:solidFill>
                  <a:srgbClr val="CDEAC0"/>
                </a:solidFill>
                <a:latin typeface="Consolas"/>
              </a:rPr>
              <a:t>Fold 0: treino=[0 1 2]     teste=[3 4 5]
Fold 1: treino=[2 3 4 5]   teste=[6 7 8]
Fold 2: treino=[5 6 7 8]   teste=[9 10 11]</a:t>
            </a:r>
            <a:endParaRPr lang="pt-BR" sz="1250">
              <a:solidFill>
                <a:srgbClr val="CDEAC0"/>
              </a:solidFill>
              <a:latin typeface="Consolas"/>
            </a:endParaRPr>
          </a:p>
        </p:txBody>
      </p:sp>
      <p:sp>
        <p:nvSpPr>
          <p:cNvPr id="8" name="Retângulo: Cantos Arredondados 7">
            <a:extLst>
              <a:ext uri="{FF2B5EF4-FFF2-40B4-BE49-F238E27FC236}">
                <a16:creationId xmlns:a16="http://schemas.microsoft.com/office/drawing/2014/main" id="{A1A9EE2C-6D50-426B-8C50-0E3093EA58D4}"/>
              </a:ext>
            </a:extLst>
          </p:cNvPr>
          <p:cNvSpPr/>
          <p:nvPr/>
        </p:nvSpPr>
        <p:spPr>
          <a:xfrm>
            <a:off x="558800" y="3962400"/>
            <a:ext cx="8026400" cy="660400"/>
          </a:xfrm>
          <a:prstGeom prst="roundRect">
            <a:avLst/>
          </a:prstGeom>
          <a:solidFill>
            <a:srgbClr val="E8F0F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pt-BR" b="1">
                <a:solidFill>
                  <a:srgbClr val="1A56C4"/>
                </a:solidFill>
                <a:latin typeface="Arial"/>
                <a:cs typeface="Arial"/>
              </a:rPr>
              <a:t>max_train_size limita o treino a 4 amostras: em vez de acumular todo o histórico, a janela desliza. Útil quando padrões antigos deixam de valer.</a:t>
            </a:r>
          </a:p>
        </p:txBody>
      </p:sp>
    </p:spTree>
    <p:extLst>
      <p:ext uri="{BB962C8B-B14F-4D97-AF65-F5344CB8AC3E}">
        <p14:creationId xmlns:p14="http://schemas.microsoft.com/office/powerpoint/2010/main" val="3193373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0B64379D-3BA4-4F63-BF61-97171211CCA2}"/>
              </a:ext>
            </a:extLst>
          </p:cNvPr>
          <p:cNvSpPr/>
          <p:nvPr/>
        </p:nvSpPr>
        <p:spPr>
          <a:xfrm>
            <a:off x="457200" y="406400"/>
            <a:ext cx="76200" cy="5588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 name="CaixaDeTexto 2">
            <a:extLst>
              <a:ext uri="{FF2B5EF4-FFF2-40B4-BE49-F238E27FC236}">
                <a16:creationId xmlns:a16="http://schemas.microsoft.com/office/drawing/2014/main" id="{E388B98A-07E3-47AC-BC0F-B5A80F0EAF61}"/>
              </a:ext>
            </a:extLst>
          </p:cNvPr>
          <p:cNvSpPr txBox="1"/>
          <p:nvPr/>
        </p:nvSpPr>
        <p:spPr>
          <a:xfrm>
            <a:off x="660400" y="355600"/>
            <a:ext cx="8026400" cy="558800"/>
          </a:xfrm>
          <a:prstGeom prst="rect">
            <a:avLst/>
          </a:prstGeom>
          <a:noFill/>
        </p:spPr>
        <p:txBody>
          <a:bodyPr vertOverflow="overflow" vert="horz" wrap="square" rtlCol="0" anchor="t" anchorCtr="0">
            <a:spAutoFit/>
          </a:bodyPr>
          <a:lstStyle/>
          <a:p>
            <a:pPr algn="l"/>
            <a:r>
              <a:rPr lang="pt-BR" sz="2300" b="1">
                <a:solidFill>
                  <a:srgbClr val="212121"/>
                </a:solidFill>
              </a:rPr>
              <a:t>Exemplo prático — regressão com cross_val_score</a:t>
            </a:r>
          </a:p>
        </p:txBody>
      </p:sp>
      <p:sp>
        <p:nvSpPr>
          <p:cNvPr id="4" name="CaixaDeTexto 3">
            <a:extLst>
              <a:ext uri="{FF2B5EF4-FFF2-40B4-BE49-F238E27FC236}">
                <a16:creationId xmlns:a16="http://schemas.microsoft.com/office/drawing/2014/main" id="{60DF1407-F379-4CFE-AD31-A70CB23414B2}"/>
              </a:ext>
            </a:extLst>
          </p:cNvPr>
          <p:cNvSpPr txBox="1"/>
          <p:nvPr/>
        </p:nvSpPr>
        <p:spPr>
          <a:xfrm>
            <a:off x="558800" y="990600"/>
            <a:ext cx="3810000" cy="203200"/>
          </a:xfrm>
          <a:prstGeom prst="rect">
            <a:avLst/>
          </a:prstGeom>
          <a:noFill/>
        </p:spPr>
        <p:txBody>
          <a:bodyPr vertOverflow="overflow" vert="horz" wrap="square" rtlCol="0" anchor="t">
            <a:spAutoFit/>
          </a:bodyPr>
          <a:lstStyle/>
          <a:p>
            <a:pPr algn="l"/>
            <a:r>
              <a:rPr lang="pt-BR" sz="1200" b="1">
                <a:solidFill>
                  <a:srgbClr val="37474F"/>
                </a:solidFill>
              </a:rPr>
              <a:t>Código</a:t>
            </a:r>
          </a:p>
        </p:txBody>
      </p:sp>
      <p:sp>
        <p:nvSpPr>
          <p:cNvPr id="5" name="Retângulo: Cantos Arredondados 4">
            <a:extLst>
              <a:ext uri="{FF2B5EF4-FFF2-40B4-BE49-F238E27FC236}">
                <a16:creationId xmlns:a16="http://schemas.microsoft.com/office/drawing/2014/main" id="{4F467037-461C-4124-8275-3D6B0F8491DD}"/>
              </a:ext>
            </a:extLst>
          </p:cNvPr>
          <p:cNvSpPr/>
          <p:nvPr/>
        </p:nvSpPr>
        <p:spPr>
          <a:xfrm>
            <a:off x="558800" y="1219200"/>
            <a:ext cx="8026400" cy="2540000"/>
          </a:xfrm>
          <a:prstGeom prst="roundRect">
            <a:avLst/>
          </a:prstGeom>
          <a:solidFill>
            <a:srgbClr val="21212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pt-BR" sz="1150">
                <a:solidFill>
                  <a:srgbClr val="EAF2FF"/>
                </a:solidFill>
                <a:latin typeface="Consolas"/>
              </a:rPr>
              <a:t>from sklearn.linear_model import Ridge
from sklearn.pipeline import make_pipeline
from sklearn.preprocessing import StandardScaler
from sklearn.model_selection import TimeSeriesSplit, cross_val_score
X = np.arange(200).reshape(-1, 1)
y = np.sin(X.ravel()/10) + np.random.normal(0, .1, 200)
modelo = make_pipeline(StandardScaler(), Ridge(alpha=1.0))
tscv = TimeSeriesSplit(n_splits=5)
scores = cross_val_score(modelo, X, y, cv=tscv,
                         scoring="neg_mean_absolute_error")
print(-scores); print(f"MAE medio: {-scores.mean():.3f}")</a:t>
            </a:r>
          </a:p>
        </p:txBody>
      </p:sp>
      <p:sp>
        <p:nvSpPr>
          <p:cNvPr id="6" name="CaixaDeTexto 5">
            <a:extLst>
              <a:ext uri="{FF2B5EF4-FFF2-40B4-BE49-F238E27FC236}">
                <a16:creationId xmlns:a16="http://schemas.microsoft.com/office/drawing/2014/main" id="{904CA43F-B4DB-49A9-8817-73876B794BB1}"/>
              </a:ext>
            </a:extLst>
          </p:cNvPr>
          <p:cNvSpPr txBox="1"/>
          <p:nvPr/>
        </p:nvSpPr>
        <p:spPr>
          <a:xfrm>
            <a:off x="558800" y="3810000"/>
            <a:ext cx="3810000" cy="203200"/>
          </a:xfrm>
          <a:prstGeom prst="rect">
            <a:avLst/>
          </a:prstGeom>
          <a:noFill/>
        </p:spPr>
        <p:txBody>
          <a:bodyPr vertOverflow="overflow" vert="horz" wrap="square" rtlCol="0" anchor="t">
            <a:spAutoFit/>
          </a:bodyPr>
          <a:lstStyle/>
          <a:p>
            <a:pPr algn="l"/>
            <a:r>
              <a:rPr lang="pt-BR" sz="1200" b="1">
                <a:solidFill>
                  <a:srgbClr val="37474F"/>
                </a:solidFill>
              </a:rPr>
              <a:t>Saída</a:t>
            </a:r>
          </a:p>
        </p:txBody>
      </p:sp>
      <p:sp>
        <p:nvSpPr>
          <p:cNvPr id="7" name="Retângulo: Cantos Arredondados 6">
            <a:extLst>
              <a:ext uri="{FF2B5EF4-FFF2-40B4-BE49-F238E27FC236}">
                <a16:creationId xmlns:a16="http://schemas.microsoft.com/office/drawing/2014/main" id="{2C172714-DD3D-4372-B711-7CD75014D076}"/>
              </a:ext>
            </a:extLst>
          </p:cNvPr>
          <p:cNvSpPr/>
          <p:nvPr/>
        </p:nvSpPr>
        <p:spPr>
          <a:xfrm>
            <a:off x="558800" y="4038600"/>
            <a:ext cx="8026400" cy="584200"/>
          </a:xfrm>
          <a:prstGeom prst="roundRect">
            <a:avLst/>
          </a:prstGeom>
          <a:solidFill>
            <a:srgbClr val="2B3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es-ES" sz="1250">
                <a:solidFill>
                  <a:srgbClr val="CDEAC0"/>
                </a:solidFill>
                <a:latin typeface="Consolas"/>
              </a:rPr>
              <a:t>[0.123 0.098 0.087 0.091 0.085]
MAE medio: 0.097</a:t>
            </a:r>
            <a:endParaRPr lang="pt-BR" sz="1250">
              <a:solidFill>
                <a:srgbClr val="CDEAC0"/>
              </a:solidFill>
              <a:latin typeface="Consolas"/>
            </a:endParaRPr>
          </a:p>
        </p:txBody>
      </p:sp>
    </p:spTree>
    <p:extLst>
      <p:ext uri="{BB962C8B-B14F-4D97-AF65-F5344CB8AC3E}">
        <p14:creationId xmlns:p14="http://schemas.microsoft.com/office/powerpoint/2010/main" val="1972513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16ABD56D-1F95-4358-A8CB-DEDACC7F859F}"/>
              </a:ext>
            </a:extLst>
          </p:cNvPr>
          <p:cNvSpPr/>
          <p:nvPr/>
        </p:nvSpPr>
        <p:spPr>
          <a:xfrm>
            <a:off x="457200" y="406400"/>
            <a:ext cx="76200" cy="5588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 name="CaixaDeTexto 2">
            <a:extLst>
              <a:ext uri="{FF2B5EF4-FFF2-40B4-BE49-F238E27FC236}">
                <a16:creationId xmlns:a16="http://schemas.microsoft.com/office/drawing/2014/main" id="{4B3DB331-572C-49CC-90EC-52F106AA53B8}"/>
              </a:ext>
            </a:extLst>
          </p:cNvPr>
          <p:cNvSpPr txBox="1"/>
          <p:nvPr/>
        </p:nvSpPr>
        <p:spPr>
          <a:xfrm>
            <a:off x="660400" y="355600"/>
            <a:ext cx="8026400" cy="558800"/>
          </a:xfrm>
          <a:prstGeom prst="rect">
            <a:avLst/>
          </a:prstGeom>
          <a:noFill/>
        </p:spPr>
        <p:txBody>
          <a:bodyPr vertOverflow="overflow" vert="horz" wrap="square" rtlCol="0" anchor="t" anchorCtr="0">
            <a:spAutoFit/>
          </a:bodyPr>
          <a:lstStyle/>
          <a:p>
            <a:pPr algn="l"/>
            <a:r>
              <a:rPr lang="pt-BR" sz="2400" b="1">
                <a:solidFill>
                  <a:srgbClr val="212121"/>
                </a:solidFill>
              </a:rPr>
              <a:t>Dados reais (pandas) + GridSearchCV</a:t>
            </a:r>
          </a:p>
        </p:txBody>
      </p:sp>
      <p:sp>
        <p:nvSpPr>
          <p:cNvPr id="4" name="CaixaDeTexto 3">
            <a:extLst>
              <a:ext uri="{FF2B5EF4-FFF2-40B4-BE49-F238E27FC236}">
                <a16:creationId xmlns:a16="http://schemas.microsoft.com/office/drawing/2014/main" id="{0C17D4A6-48F8-49ED-8055-2DA89DA53205}"/>
              </a:ext>
            </a:extLst>
          </p:cNvPr>
          <p:cNvSpPr txBox="1"/>
          <p:nvPr/>
        </p:nvSpPr>
        <p:spPr>
          <a:xfrm>
            <a:off x="558800" y="990600"/>
            <a:ext cx="3810000" cy="203200"/>
          </a:xfrm>
          <a:prstGeom prst="rect">
            <a:avLst/>
          </a:prstGeom>
          <a:noFill/>
        </p:spPr>
        <p:txBody>
          <a:bodyPr vertOverflow="overflow" vert="horz" wrap="square" rtlCol="0" anchor="t">
            <a:spAutoFit/>
          </a:bodyPr>
          <a:lstStyle/>
          <a:p>
            <a:pPr algn="l"/>
            <a:r>
              <a:rPr lang="pt-BR" sz="1200" b="1">
                <a:solidFill>
                  <a:srgbClr val="37474F"/>
                </a:solidFill>
              </a:rPr>
              <a:t>Código</a:t>
            </a:r>
          </a:p>
        </p:txBody>
      </p:sp>
      <p:sp>
        <p:nvSpPr>
          <p:cNvPr id="5" name="Retângulo: Cantos Arredondados 4">
            <a:extLst>
              <a:ext uri="{FF2B5EF4-FFF2-40B4-BE49-F238E27FC236}">
                <a16:creationId xmlns:a16="http://schemas.microsoft.com/office/drawing/2014/main" id="{8D93B908-ECA1-4DE6-90FF-00B12D4B817A}"/>
              </a:ext>
            </a:extLst>
          </p:cNvPr>
          <p:cNvSpPr/>
          <p:nvPr/>
        </p:nvSpPr>
        <p:spPr>
          <a:xfrm>
            <a:off x="558800" y="1219200"/>
            <a:ext cx="8026400" cy="2667000"/>
          </a:xfrm>
          <a:prstGeom prst="roundRect">
            <a:avLst/>
          </a:prstGeom>
          <a:solidFill>
            <a:srgbClr val="21212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pt-BR" sz="1100">
                <a:solidFill>
                  <a:srgbClr val="EAF2FF"/>
                </a:solidFill>
                <a:latin typeface="Consolas"/>
              </a:rPr>
              <a:t>import pandas as pd
from sklearn.ensemble import RandomForestRegressor
from sklearn.model_selection import TimeSeriesSplit, GridSearchCV
df = pd.read_csv("vendas.csv", parse_dates=["data"])
df = df.sort_values("data")            # ordem temporal!
X, y = df[["lag_1","lag_7","media_movel"]], df["vendas"]
tscv = TimeSeriesSplit(n_splits=5, test_size=30)  # 30 dias
grade = {"n_estimators":[100,300], "max_depth":[4,8]}
busca = GridSearchCV(RandomForestRegressor(random_state=0),
                     grade, cv=tscv, scoring="neg_root_mean_squared_error")
busca.fit(X, y)
print(busca.best_params_, -busca.best_score_)</a:t>
            </a:r>
          </a:p>
        </p:txBody>
      </p:sp>
      <p:sp>
        <p:nvSpPr>
          <p:cNvPr id="6" name="CaixaDeTexto 5">
            <a:extLst>
              <a:ext uri="{FF2B5EF4-FFF2-40B4-BE49-F238E27FC236}">
                <a16:creationId xmlns:a16="http://schemas.microsoft.com/office/drawing/2014/main" id="{FE9D33A7-B5B5-4F60-B944-581BCE314F7A}"/>
              </a:ext>
            </a:extLst>
          </p:cNvPr>
          <p:cNvSpPr txBox="1"/>
          <p:nvPr/>
        </p:nvSpPr>
        <p:spPr>
          <a:xfrm>
            <a:off x="558800" y="3962400"/>
            <a:ext cx="3810000" cy="203200"/>
          </a:xfrm>
          <a:prstGeom prst="rect">
            <a:avLst/>
          </a:prstGeom>
          <a:noFill/>
        </p:spPr>
        <p:txBody>
          <a:bodyPr vertOverflow="overflow" vert="horz" wrap="square" rtlCol="0" anchor="t">
            <a:spAutoFit/>
          </a:bodyPr>
          <a:lstStyle/>
          <a:p>
            <a:pPr algn="l"/>
            <a:r>
              <a:rPr lang="pt-BR" sz="1200" b="1">
                <a:solidFill>
                  <a:srgbClr val="37474F"/>
                </a:solidFill>
              </a:rPr>
              <a:t>Saída</a:t>
            </a:r>
          </a:p>
        </p:txBody>
      </p:sp>
      <p:sp>
        <p:nvSpPr>
          <p:cNvPr id="7" name="Retângulo: Cantos Arredondados 6">
            <a:extLst>
              <a:ext uri="{FF2B5EF4-FFF2-40B4-BE49-F238E27FC236}">
                <a16:creationId xmlns:a16="http://schemas.microsoft.com/office/drawing/2014/main" id="{26C6D5CB-5159-4121-8BE7-69ED4B3C2E7B}"/>
              </a:ext>
            </a:extLst>
          </p:cNvPr>
          <p:cNvSpPr/>
          <p:nvPr/>
        </p:nvSpPr>
        <p:spPr>
          <a:xfrm>
            <a:off x="558800" y="4191000"/>
            <a:ext cx="8026400" cy="431800"/>
          </a:xfrm>
          <a:prstGeom prst="roundRect">
            <a:avLst/>
          </a:prstGeom>
          <a:solidFill>
            <a:srgbClr val="2B3A2E"/>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pt-BR" sz="1200">
                <a:solidFill>
                  <a:srgbClr val="CDEAC0"/>
                </a:solidFill>
                <a:latin typeface="Consolas"/>
              </a:rPr>
              <a:t>{'max_depth': 8, 'n_estimators': 300}   RMSE: 42.6</a:t>
            </a:r>
          </a:p>
        </p:txBody>
      </p:sp>
    </p:spTree>
    <p:extLst>
      <p:ext uri="{BB962C8B-B14F-4D97-AF65-F5344CB8AC3E}">
        <p14:creationId xmlns:p14="http://schemas.microsoft.com/office/powerpoint/2010/main" val="2951046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3AAECFAA-B6BB-43A9-A401-67E42A8D2E4B}"/>
              </a:ext>
            </a:extLst>
          </p:cNvPr>
          <p:cNvSpPr/>
          <p:nvPr/>
        </p:nvSpPr>
        <p:spPr>
          <a:xfrm>
            <a:off x="457200" y="406400"/>
            <a:ext cx="76200" cy="5588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 name="CaixaDeTexto 2">
            <a:extLst>
              <a:ext uri="{FF2B5EF4-FFF2-40B4-BE49-F238E27FC236}">
                <a16:creationId xmlns:a16="http://schemas.microsoft.com/office/drawing/2014/main" id="{4D9AD987-6E3D-4265-9314-A6F4DBB520B2}"/>
              </a:ext>
            </a:extLst>
          </p:cNvPr>
          <p:cNvSpPr txBox="1"/>
          <p:nvPr/>
        </p:nvSpPr>
        <p:spPr>
          <a:xfrm>
            <a:off x="660400" y="355600"/>
            <a:ext cx="8026400" cy="558800"/>
          </a:xfrm>
          <a:prstGeom prst="rect">
            <a:avLst/>
          </a:prstGeom>
          <a:noFill/>
        </p:spPr>
        <p:txBody>
          <a:bodyPr vertOverflow="overflow" vert="horz" wrap="square" rtlCol="0" anchor="t" anchorCtr="0">
            <a:spAutoFit/>
          </a:bodyPr>
          <a:lstStyle/>
          <a:p>
            <a:pPr algn="l"/>
            <a:r>
              <a:rPr lang="pt-BR" sz="2400" b="1">
                <a:solidFill>
                  <a:srgbClr val="212121"/>
                </a:solidFill>
              </a:rPr>
              <a:t>Erros comuns e boas práticas</a:t>
            </a:r>
          </a:p>
        </p:txBody>
      </p:sp>
      <p:sp>
        <p:nvSpPr>
          <p:cNvPr id="4" name="Retângulo: Cantos Arredondados 3">
            <a:extLst>
              <a:ext uri="{FF2B5EF4-FFF2-40B4-BE49-F238E27FC236}">
                <a16:creationId xmlns:a16="http://schemas.microsoft.com/office/drawing/2014/main" id="{833241C1-526B-4901-A92A-09881BB4EFCB}"/>
              </a:ext>
            </a:extLst>
          </p:cNvPr>
          <p:cNvSpPr/>
          <p:nvPr/>
        </p:nvSpPr>
        <p:spPr>
          <a:xfrm>
            <a:off x="558800" y="1143000"/>
            <a:ext cx="3886200" cy="3454400"/>
          </a:xfrm>
          <a:prstGeom prst="roundRect">
            <a:avLst/>
          </a:prstGeom>
          <a:solidFill>
            <a:srgbClr val="FDECE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5" name="CaixaDeTexto 4">
            <a:extLst>
              <a:ext uri="{FF2B5EF4-FFF2-40B4-BE49-F238E27FC236}">
                <a16:creationId xmlns:a16="http://schemas.microsoft.com/office/drawing/2014/main" id="{139164E3-6E5E-42C8-9B2E-8FF199289A91}"/>
              </a:ext>
            </a:extLst>
          </p:cNvPr>
          <p:cNvSpPr txBox="1"/>
          <p:nvPr/>
        </p:nvSpPr>
        <p:spPr>
          <a:xfrm>
            <a:off x="787400" y="1320800"/>
            <a:ext cx="3429000" cy="330200"/>
          </a:xfrm>
          <a:prstGeom prst="rect">
            <a:avLst/>
          </a:prstGeom>
          <a:noFill/>
        </p:spPr>
        <p:txBody>
          <a:bodyPr vertOverflow="overflow" vert="horz" wrap="square" rtlCol="0" anchor="t">
            <a:spAutoFit/>
          </a:bodyPr>
          <a:lstStyle/>
          <a:p>
            <a:pPr algn="l"/>
            <a:r>
              <a:rPr lang="pt-BR" sz="1600" b="1">
                <a:solidFill>
                  <a:srgbClr val="C5221F"/>
                </a:solidFill>
              </a:rPr>
              <a:t>❌  Erros comuns</a:t>
            </a:r>
          </a:p>
        </p:txBody>
      </p:sp>
      <p:sp>
        <p:nvSpPr>
          <p:cNvPr id="6" name="CaixaDeTexto 5">
            <a:extLst>
              <a:ext uri="{FF2B5EF4-FFF2-40B4-BE49-F238E27FC236}">
                <a16:creationId xmlns:a16="http://schemas.microsoft.com/office/drawing/2014/main" id="{8302999F-0BE2-46E0-926E-A4664B380F79}"/>
              </a:ext>
            </a:extLst>
          </p:cNvPr>
          <p:cNvSpPr txBox="1"/>
          <p:nvPr/>
        </p:nvSpPr>
        <p:spPr>
          <a:xfrm>
            <a:off x="762000" y="1752600"/>
            <a:ext cx="177800" cy="279400"/>
          </a:xfrm>
          <a:prstGeom prst="rect">
            <a:avLst/>
          </a:prstGeom>
          <a:noFill/>
        </p:spPr>
        <p:txBody>
          <a:bodyPr vertOverflow="overflow" vert="horz" wrap="square" rtlCol="0" anchor="t">
            <a:spAutoFit/>
          </a:bodyPr>
          <a:lstStyle/>
          <a:p>
            <a:pPr algn="l"/>
            <a:r>
              <a:rPr lang="pt-BR" b="1">
                <a:solidFill>
                  <a:srgbClr val="C5221F"/>
                </a:solidFill>
              </a:rPr>
              <a:t>•</a:t>
            </a:r>
          </a:p>
        </p:txBody>
      </p:sp>
      <p:sp>
        <p:nvSpPr>
          <p:cNvPr id="7" name="CaixaDeTexto 6">
            <a:extLst>
              <a:ext uri="{FF2B5EF4-FFF2-40B4-BE49-F238E27FC236}">
                <a16:creationId xmlns:a16="http://schemas.microsoft.com/office/drawing/2014/main" id="{2A3FC4C5-EF8F-489B-8A53-27F9CAD13B77}"/>
              </a:ext>
            </a:extLst>
          </p:cNvPr>
          <p:cNvSpPr txBox="1"/>
          <p:nvPr/>
        </p:nvSpPr>
        <p:spPr>
          <a:xfrm>
            <a:off x="965200" y="1752600"/>
            <a:ext cx="3276600" cy="558800"/>
          </a:xfrm>
          <a:prstGeom prst="rect">
            <a:avLst/>
          </a:prstGeom>
          <a:noFill/>
        </p:spPr>
        <p:txBody>
          <a:bodyPr vertOverflow="overflow" vert="horz" wrap="square" rtlCol="0" anchor="t" anchorCtr="0">
            <a:spAutoFit/>
          </a:bodyPr>
          <a:lstStyle/>
          <a:p>
            <a:pPr algn="l"/>
            <a:r>
              <a:rPr lang="pt-BR" sz="1350">
                <a:solidFill>
                  <a:srgbClr val="37474F"/>
                </a:solidFill>
              </a:rPr>
              <a:t>Embaralhar os dados ou usar KFold/train_test_split aleatório.</a:t>
            </a:r>
          </a:p>
        </p:txBody>
      </p:sp>
      <p:sp>
        <p:nvSpPr>
          <p:cNvPr id="8" name="CaixaDeTexto 7">
            <a:extLst>
              <a:ext uri="{FF2B5EF4-FFF2-40B4-BE49-F238E27FC236}">
                <a16:creationId xmlns:a16="http://schemas.microsoft.com/office/drawing/2014/main" id="{C1CACE7D-E532-4DA6-9685-543B78DBA2A0}"/>
              </a:ext>
            </a:extLst>
          </p:cNvPr>
          <p:cNvSpPr txBox="1"/>
          <p:nvPr/>
        </p:nvSpPr>
        <p:spPr>
          <a:xfrm>
            <a:off x="762000" y="2413000"/>
            <a:ext cx="177800" cy="279400"/>
          </a:xfrm>
          <a:prstGeom prst="rect">
            <a:avLst/>
          </a:prstGeom>
          <a:noFill/>
        </p:spPr>
        <p:txBody>
          <a:bodyPr vertOverflow="overflow" vert="horz" wrap="square" rtlCol="0" anchor="t">
            <a:spAutoFit/>
          </a:bodyPr>
          <a:lstStyle/>
          <a:p>
            <a:pPr algn="l"/>
            <a:r>
              <a:rPr lang="pt-BR" b="1">
                <a:solidFill>
                  <a:srgbClr val="C5221F"/>
                </a:solidFill>
              </a:rPr>
              <a:t>•</a:t>
            </a:r>
          </a:p>
        </p:txBody>
      </p:sp>
      <p:sp>
        <p:nvSpPr>
          <p:cNvPr id="9" name="CaixaDeTexto 8">
            <a:extLst>
              <a:ext uri="{FF2B5EF4-FFF2-40B4-BE49-F238E27FC236}">
                <a16:creationId xmlns:a16="http://schemas.microsoft.com/office/drawing/2014/main" id="{A9565ED1-FA15-409B-907C-EC01B84DB743}"/>
              </a:ext>
            </a:extLst>
          </p:cNvPr>
          <p:cNvSpPr txBox="1"/>
          <p:nvPr/>
        </p:nvSpPr>
        <p:spPr>
          <a:xfrm>
            <a:off x="965200" y="2413000"/>
            <a:ext cx="3276600" cy="558800"/>
          </a:xfrm>
          <a:prstGeom prst="rect">
            <a:avLst/>
          </a:prstGeom>
          <a:noFill/>
        </p:spPr>
        <p:txBody>
          <a:bodyPr vertOverflow="overflow" vert="horz" wrap="square" rtlCol="0" anchor="t" anchorCtr="0">
            <a:spAutoFit/>
          </a:bodyPr>
          <a:lstStyle/>
          <a:p>
            <a:pPr algn="l"/>
            <a:r>
              <a:rPr lang="pt-BR" sz="1350" dirty="0">
                <a:solidFill>
                  <a:srgbClr val="37474F"/>
                </a:solidFill>
              </a:rPr>
              <a:t>Escalonar antes de dividir — vaza estatísticas do teste.</a:t>
            </a:r>
          </a:p>
        </p:txBody>
      </p:sp>
      <p:sp>
        <p:nvSpPr>
          <p:cNvPr id="10" name="CaixaDeTexto 9">
            <a:extLst>
              <a:ext uri="{FF2B5EF4-FFF2-40B4-BE49-F238E27FC236}">
                <a16:creationId xmlns:a16="http://schemas.microsoft.com/office/drawing/2014/main" id="{86F42438-000F-4C89-84CC-105E3862FA2A}"/>
              </a:ext>
            </a:extLst>
          </p:cNvPr>
          <p:cNvSpPr txBox="1"/>
          <p:nvPr/>
        </p:nvSpPr>
        <p:spPr>
          <a:xfrm>
            <a:off x="762000" y="3073400"/>
            <a:ext cx="177800" cy="279400"/>
          </a:xfrm>
          <a:prstGeom prst="rect">
            <a:avLst/>
          </a:prstGeom>
          <a:noFill/>
        </p:spPr>
        <p:txBody>
          <a:bodyPr vertOverflow="overflow" vert="horz" wrap="square" rtlCol="0" anchor="t">
            <a:spAutoFit/>
          </a:bodyPr>
          <a:lstStyle/>
          <a:p>
            <a:pPr algn="l"/>
            <a:r>
              <a:rPr lang="pt-BR" b="1">
                <a:solidFill>
                  <a:srgbClr val="C5221F"/>
                </a:solidFill>
              </a:rPr>
              <a:t>•</a:t>
            </a:r>
          </a:p>
        </p:txBody>
      </p:sp>
      <p:sp>
        <p:nvSpPr>
          <p:cNvPr id="11" name="CaixaDeTexto 10">
            <a:extLst>
              <a:ext uri="{FF2B5EF4-FFF2-40B4-BE49-F238E27FC236}">
                <a16:creationId xmlns:a16="http://schemas.microsoft.com/office/drawing/2014/main" id="{904DC8C2-64FD-4D0F-A962-2D1BC8C09848}"/>
              </a:ext>
            </a:extLst>
          </p:cNvPr>
          <p:cNvSpPr txBox="1"/>
          <p:nvPr/>
        </p:nvSpPr>
        <p:spPr>
          <a:xfrm>
            <a:off x="965200" y="3073400"/>
            <a:ext cx="3276600" cy="558800"/>
          </a:xfrm>
          <a:prstGeom prst="rect">
            <a:avLst/>
          </a:prstGeom>
          <a:noFill/>
        </p:spPr>
        <p:txBody>
          <a:bodyPr vertOverflow="overflow" vert="horz" wrap="square" rtlCol="0" anchor="t" anchorCtr="0">
            <a:spAutoFit/>
          </a:bodyPr>
          <a:lstStyle/>
          <a:p>
            <a:pPr algn="l"/>
            <a:r>
              <a:rPr lang="pt-BR" sz="1350">
                <a:solidFill>
                  <a:srgbClr val="37474F"/>
                </a:solidFill>
              </a:rPr>
              <a:t>Misturar séries de entidades diferentes no mesmo split.</a:t>
            </a:r>
          </a:p>
        </p:txBody>
      </p:sp>
      <p:sp>
        <p:nvSpPr>
          <p:cNvPr id="12" name="CaixaDeTexto 11">
            <a:extLst>
              <a:ext uri="{FF2B5EF4-FFF2-40B4-BE49-F238E27FC236}">
                <a16:creationId xmlns:a16="http://schemas.microsoft.com/office/drawing/2014/main" id="{F025019D-9CDC-489D-9E20-545E57D03D20}"/>
              </a:ext>
            </a:extLst>
          </p:cNvPr>
          <p:cNvSpPr txBox="1"/>
          <p:nvPr/>
        </p:nvSpPr>
        <p:spPr>
          <a:xfrm>
            <a:off x="762000" y="3733800"/>
            <a:ext cx="177800" cy="279400"/>
          </a:xfrm>
          <a:prstGeom prst="rect">
            <a:avLst/>
          </a:prstGeom>
          <a:noFill/>
        </p:spPr>
        <p:txBody>
          <a:bodyPr vertOverflow="overflow" vert="horz" wrap="square" rtlCol="0" anchor="t">
            <a:spAutoFit/>
          </a:bodyPr>
          <a:lstStyle/>
          <a:p>
            <a:pPr algn="l"/>
            <a:r>
              <a:rPr lang="pt-BR" b="1">
                <a:solidFill>
                  <a:srgbClr val="C5221F"/>
                </a:solidFill>
              </a:rPr>
              <a:t>•</a:t>
            </a:r>
          </a:p>
        </p:txBody>
      </p:sp>
      <p:sp>
        <p:nvSpPr>
          <p:cNvPr id="13" name="CaixaDeTexto 12">
            <a:extLst>
              <a:ext uri="{FF2B5EF4-FFF2-40B4-BE49-F238E27FC236}">
                <a16:creationId xmlns:a16="http://schemas.microsoft.com/office/drawing/2014/main" id="{71ECF546-C6EC-4001-848D-A794EF71F771}"/>
              </a:ext>
            </a:extLst>
          </p:cNvPr>
          <p:cNvSpPr txBox="1"/>
          <p:nvPr/>
        </p:nvSpPr>
        <p:spPr>
          <a:xfrm>
            <a:off x="965200" y="3733800"/>
            <a:ext cx="3276600" cy="558800"/>
          </a:xfrm>
          <a:prstGeom prst="rect">
            <a:avLst/>
          </a:prstGeom>
          <a:noFill/>
        </p:spPr>
        <p:txBody>
          <a:bodyPr vertOverflow="overflow" vert="horz" wrap="square" rtlCol="0" anchor="t" anchorCtr="0">
            <a:spAutoFit/>
          </a:bodyPr>
          <a:lstStyle/>
          <a:p>
            <a:pPr algn="l"/>
            <a:r>
              <a:rPr lang="pt-BR" sz="1350">
                <a:solidFill>
                  <a:srgbClr val="37474F"/>
                </a:solidFill>
              </a:rPr>
              <a:t>Comparar folds com test_size diferente sem cuidado.</a:t>
            </a:r>
          </a:p>
        </p:txBody>
      </p:sp>
      <p:sp>
        <p:nvSpPr>
          <p:cNvPr id="14" name="Retângulo: Cantos Arredondados 13">
            <a:extLst>
              <a:ext uri="{FF2B5EF4-FFF2-40B4-BE49-F238E27FC236}">
                <a16:creationId xmlns:a16="http://schemas.microsoft.com/office/drawing/2014/main" id="{041EC2B6-B6C9-4586-B32B-12D5AFD2811A}"/>
              </a:ext>
            </a:extLst>
          </p:cNvPr>
          <p:cNvSpPr/>
          <p:nvPr/>
        </p:nvSpPr>
        <p:spPr>
          <a:xfrm>
            <a:off x="4699000" y="1143000"/>
            <a:ext cx="3886200" cy="3454400"/>
          </a:xfrm>
          <a:prstGeom prst="roundRect">
            <a:avLst/>
          </a:prstGeom>
          <a:solidFill>
            <a:srgbClr val="E6F4E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15" name="CaixaDeTexto 14">
            <a:extLst>
              <a:ext uri="{FF2B5EF4-FFF2-40B4-BE49-F238E27FC236}">
                <a16:creationId xmlns:a16="http://schemas.microsoft.com/office/drawing/2014/main" id="{EB547A81-4101-43F4-8735-33FCCEA2EA81}"/>
              </a:ext>
            </a:extLst>
          </p:cNvPr>
          <p:cNvSpPr txBox="1"/>
          <p:nvPr/>
        </p:nvSpPr>
        <p:spPr>
          <a:xfrm>
            <a:off x="4927600" y="1320800"/>
            <a:ext cx="3429000" cy="330200"/>
          </a:xfrm>
          <a:prstGeom prst="rect">
            <a:avLst/>
          </a:prstGeom>
          <a:noFill/>
        </p:spPr>
        <p:txBody>
          <a:bodyPr vertOverflow="overflow" vert="horz" wrap="square" rtlCol="0" anchor="t">
            <a:spAutoFit/>
          </a:bodyPr>
          <a:lstStyle/>
          <a:p>
            <a:pPr algn="l"/>
            <a:r>
              <a:rPr lang="pt-BR" sz="1600" b="1">
                <a:solidFill>
                  <a:srgbClr val="137333"/>
                </a:solidFill>
              </a:rPr>
              <a:t>✓  Boas práticas</a:t>
            </a:r>
          </a:p>
        </p:txBody>
      </p:sp>
      <p:sp>
        <p:nvSpPr>
          <p:cNvPr id="16" name="CaixaDeTexto 15">
            <a:extLst>
              <a:ext uri="{FF2B5EF4-FFF2-40B4-BE49-F238E27FC236}">
                <a16:creationId xmlns:a16="http://schemas.microsoft.com/office/drawing/2014/main" id="{9CA2033D-D4A3-4F22-9C4F-C8761B501E63}"/>
              </a:ext>
            </a:extLst>
          </p:cNvPr>
          <p:cNvSpPr txBox="1"/>
          <p:nvPr/>
        </p:nvSpPr>
        <p:spPr>
          <a:xfrm>
            <a:off x="4902200" y="1752600"/>
            <a:ext cx="177800" cy="279400"/>
          </a:xfrm>
          <a:prstGeom prst="rect">
            <a:avLst/>
          </a:prstGeom>
          <a:noFill/>
        </p:spPr>
        <p:txBody>
          <a:bodyPr vertOverflow="overflow" vert="horz" wrap="square" rtlCol="0" anchor="t">
            <a:spAutoFit/>
          </a:bodyPr>
          <a:lstStyle/>
          <a:p>
            <a:pPr algn="l"/>
            <a:r>
              <a:rPr lang="pt-BR" b="1">
                <a:solidFill>
                  <a:srgbClr val="137333"/>
                </a:solidFill>
              </a:rPr>
              <a:t>•</a:t>
            </a:r>
          </a:p>
        </p:txBody>
      </p:sp>
      <p:sp>
        <p:nvSpPr>
          <p:cNvPr id="17" name="CaixaDeTexto 16">
            <a:extLst>
              <a:ext uri="{FF2B5EF4-FFF2-40B4-BE49-F238E27FC236}">
                <a16:creationId xmlns:a16="http://schemas.microsoft.com/office/drawing/2014/main" id="{8037A4A5-23D1-4BEB-9403-5F7C9D626838}"/>
              </a:ext>
            </a:extLst>
          </p:cNvPr>
          <p:cNvSpPr txBox="1"/>
          <p:nvPr/>
        </p:nvSpPr>
        <p:spPr>
          <a:xfrm>
            <a:off x="5105400" y="1752600"/>
            <a:ext cx="3276600" cy="558800"/>
          </a:xfrm>
          <a:prstGeom prst="rect">
            <a:avLst/>
          </a:prstGeom>
          <a:noFill/>
        </p:spPr>
        <p:txBody>
          <a:bodyPr vertOverflow="overflow" vert="horz" wrap="square" rtlCol="0" anchor="t" anchorCtr="0">
            <a:spAutoFit/>
          </a:bodyPr>
          <a:lstStyle/>
          <a:p>
            <a:pPr algn="l"/>
            <a:r>
              <a:rPr lang="pt-BR" sz="1350">
                <a:solidFill>
                  <a:srgbClr val="37474F"/>
                </a:solidFill>
              </a:rPr>
              <a:t>Ordene por tempo antes de dividir; nunca use shuffle.</a:t>
            </a:r>
          </a:p>
        </p:txBody>
      </p:sp>
      <p:sp>
        <p:nvSpPr>
          <p:cNvPr id="18" name="CaixaDeTexto 17">
            <a:extLst>
              <a:ext uri="{FF2B5EF4-FFF2-40B4-BE49-F238E27FC236}">
                <a16:creationId xmlns:a16="http://schemas.microsoft.com/office/drawing/2014/main" id="{40366890-AF07-4007-B71E-B2D3799597D9}"/>
              </a:ext>
            </a:extLst>
          </p:cNvPr>
          <p:cNvSpPr txBox="1"/>
          <p:nvPr/>
        </p:nvSpPr>
        <p:spPr>
          <a:xfrm>
            <a:off x="4902200" y="2413000"/>
            <a:ext cx="177800" cy="279400"/>
          </a:xfrm>
          <a:prstGeom prst="rect">
            <a:avLst/>
          </a:prstGeom>
          <a:noFill/>
        </p:spPr>
        <p:txBody>
          <a:bodyPr vertOverflow="overflow" vert="horz" wrap="square" rtlCol="0" anchor="t">
            <a:spAutoFit/>
          </a:bodyPr>
          <a:lstStyle/>
          <a:p>
            <a:pPr algn="l"/>
            <a:r>
              <a:rPr lang="pt-BR" b="1">
                <a:solidFill>
                  <a:srgbClr val="137333"/>
                </a:solidFill>
              </a:rPr>
              <a:t>•</a:t>
            </a:r>
          </a:p>
        </p:txBody>
      </p:sp>
      <p:sp>
        <p:nvSpPr>
          <p:cNvPr id="19" name="CaixaDeTexto 18">
            <a:extLst>
              <a:ext uri="{FF2B5EF4-FFF2-40B4-BE49-F238E27FC236}">
                <a16:creationId xmlns:a16="http://schemas.microsoft.com/office/drawing/2014/main" id="{909367E7-8668-4C38-941F-10CAE3F090BA}"/>
              </a:ext>
            </a:extLst>
          </p:cNvPr>
          <p:cNvSpPr txBox="1"/>
          <p:nvPr/>
        </p:nvSpPr>
        <p:spPr>
          <a:xfrm>
            <a:off x="5105400" y="2413000"/>
            <a:ext cx="3276600" cy="558800"/>
          </a:xfrm>
          <a:prstGeom prst="rect">
            <a:avLst/>
          </a:prstGeom>
          <a:noFill/>
        </p:spPr>
        <p:txBody>
          <a:bodyPr vertOverflow="overflow" vert="horz" wrap="square" rtlCol="0" anchor="t" anchorCtr="0">
            <a:spAutoFit/>
          </a:bodyPr>
          <a:lstStyle/>
          <a:p>
            <a:pPr algn="l"/>
            <a:r>
              <a:rPr lang="pt-BR" sz="1350" dirty="0">
                <a:solidFill>
                  <a:srgbClr val="37474F"/>
                </a:solidFill>
              </a:rPr>
              <a:t>Coloque o pré-processamento dentro de um Pipeline.</a:t>
            </a:r>
          </a:p>
        </p:txBody>
      </p:sp>
      <p:sp>
        <p:nvSpPr>
          <p:cNvPr id="20" name="CaixaDeTexto 19">
            <a:extLst>
              <a:ext uri="{FF2B5EF4-FFF2-40B4-BE49-F238E27FC236}">
                <a16:creationId xmlns:a16="http://schemas.microsoft.com/office/drawing/2014/main" id="{BC4B3FAA-A4D3-43F6-BB93-491361A63CFE}"/>
              </a:ext>
            </a:extLst>
          </p:cNvPr>
          <p:cNvSpPr txBox="1"/>
          <p:nvPr/>
        </p:nvSpPr>
        <p:spPr>
          <a:xfrm>
            <a:off x="4902200" y="3073400"/>
            <a:ext cx="177800" cy="279400"/>
          </a:xfrm>
          <a:prstGeom prst="rect">
            <a:avLst/>
          </a:prstGeom>
          <a:noFill/>
        </p:spPr>
        <p:txBody>
          <a:bodyPr vertOverflow="overflow" vert="horz" wrap="square" rtlCol="0" anchor="t">
            <a:spAutoFit/>
          </a:bodyPr>
          <a:lstStyle/>
          <a:p>
            <a:pPr algn="l"/>
            <a:r>
              <a:rPr lang="pt-BR" b="1">
                <a:solidFill>
                  <a:srgbClr val="137333"/>
                </a:solidFill>
              </a:rPr>
              <a:t>•</a:t>
            </a:r>
          </a:p>
        </p:txBody>
      </p:sp>
      <p:sp>
        <p:nvSpPr>
          <p:cNvPr id="21" name="CaixaDeTexto 20">
            <a:extLst>
              <a:ext uri="{FF2B5EF4-FFF2-40B4-BE49-F238E27FC236}">
                <a16:creationId xmlns:a16="http://schemas.microsoft.com/office/drawing/2014/main" id="{F1C7A230-5344-4262-8EC7-A670F58490B6}"/>
              </a:ext>
            </a:extLst>
          </p:cNvPr>
          <p:cNvSpPr txBox="1"/>
          <p:nvPr/>
        </p:nvSpPr>
        <p:spPr>
          <a:xfrm>
            <a:off x="5105400" y="3073400"/>
            <a:ext cx="3276600" cy="558800"/>
          </a:xfrm>
          <a:prstGeom prst="rect">
            <a:avLst/>
          </a:prstGeom>
          <a:noFill/>
        </p:spPr>
        <p:txBody>
          <a:bodyPr vertOverflow="overflow" vert="horz" wrap="square" rtlCol="0" anchor="t" anchorCtr="0">
            <a:spAutoFit/>
          </a:bodyPr>
          <a:lstStyle/>
          <a:p>
            <a:pPr algn="l"/>
            <a:r>
              <a:rPr lang="pt-BR" sz="1350">
                <a:solidFill>
                  <a:srgbClr val="37474F"/>
                </a:solidFill>
              </a:rPr>
              <a:t>Use gap quando os alvos dependem de janelas futuras.</a:t>
            </a:r>
          </a:p>
        </p:txBody>
      </p:sp>
      <p:sp>
        <p:nvSpPr>
          <p:cNvPr id="22" name="CaixaDeTexto 21">
            <a:extLst>
              <a:ext uri="{FF2B5EF4-FFF2-40B4-BE49-F238E27FC236}">
                <a16:creationId xmlns:a16="http://schemas.microsoft.com/office/drawing/2014/main" id="{B24A5789-AEA7-4DE2-98B5-F60DB812DC2F}"/>
              </a:ext>
            </a:extLst>
          </p:cNvPr>
          <p:cNvSpPr txBox="1"/>
          <p:nvPr/>
        </p:nvSpPr>
        <p:spPr>
          <a:xfrm>
            <a:off x="4902200" y="3733800"/>
            <a:ext cx="177800" cy="279400"/>
          </a:xfrm>
          <a:prstGeom prst="rect">
            <a:avLst/>
          </a:prstGeom>
          <a:noFill/>
        </p:spPr>
        <p:txBody>
          <a:bodyPr vertOverflow="overflow" vert="horz" wrap="square" rtlCol="0" anchor="t">
            <a:spAutoFit/>
          </a:bodyPr>
          <a:lstStyle/>
          <a:p>
            <a:pPr algn="l"/>
            <a:r>
              <a:rPr lang="pt-BR" b="1">
                <a:solidFill>
                  <a:srgbClr val="137333"/>
                </a:solidFill>
              </a:rPr>
              <a:t>•</a:t>
            </a:r>
          </a:p>
        </p:txBody>
      </p:sp>
      <p:sp>
        <p:nvSpPr>
          <p:cNvPr id="23" name="CaixaDeTexto 22">
            <a:extLst>
              <a:ext uri="{FF2B5EF4-FFF2-40B4-BE49-F238E27FC236}">
                <a16:creationId xmlns:a16="http://schemas.microsoft.com/office/drawing/2014/main" id="{77FDB47B-92CD-4AAC-AA9F-722EC36512A0}"/>
              </a:ext>
            </a:extLst>
          </p:cNvPr>
          <p:cNvSpPr txBox="1"/>
          <p:nvPr/>
        </p:nvSpPr>
        <p:spPr>
          <a:xfrm>
            <a:off x="5105400" y="3733800"/>
            <a:ext cx="3276600" cy="558800"/>
          </a:xfrm>
          <a:prstGeom prst="rect">
            <a:avLst/>
          </a:prstGeom>
          <a:noFill/>
        </p:spPr>
        <p:txBody>
          <a:bodyPr vertOverflow="overflow" vert="horz" wrap="square" rtlCol="0" anchor="t" anchorCtr="0">
            <a:spAutoFit/>
          </a:bodyPr>
          <a:lstStyle/>
          <a:p>
            <a:pPr algn="l"/>
            <a:r>
              <a:rPr lang="pt-BR" sz="1350">
                <a:solidFill>
                  <a:srgbClr val="37474F"/>
                </a:solidFill>
              </a:rPr>
              <a:t>Fixe test_size e reporte média e desvio entre folds.</a:t>
            </a:r>
          </a:p>
        </p:txBody>
      </p:sp>
    </p:spTree>
    <p:extLst>
      <p:ext uri="{BB962C8B-B14F-4D97-AF65-F5344CB8AC3E}">
        <p14:creationId xmlns:p14="http://schemas.microsoft.com/office/powerpoint/2010/main" val="1930939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57B745A5-F711-4854-B623-6AE65583A143}"/>
              </a:ext>
            </a:extLst>
          </p:cNvPr>
          <p:cNvSpPr/>
          <p:nvPr/>
        </p:nvSpPr>
        <p:spPr>
          <a:xfrm>
            <a:off x="457200" y="406400"/>
            <a:ext cx="76200" cy="558800"/>
          </a:xfrm>
          <a:prstGeom prst="rect">
            <a:avLst/>
          </a:prstGeom>
          <a:solidFill>
            <a:srgbClr val="4285F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pt-BR"/>
          </a:p>
        </p:txBody>
      </p:sp>
      <p:sp>
        <p:nvSpPr>
          <p:cNvPr id="3" name="CaixaDeTexto 2">
            <a:extLst>
              <a:ext uri="{FF2B5EF4-FFF2-40B4-BE49-F238E27FC236}">
                <a16:creationId xmlns:a16="http://schemas.microsoft.com/office/drawing/2014/main" id="{293C6D48-263E-4D08-B69D-C28AE09975AA}"/>
              </a:ext>
            </a:extLst>
          </p:cNvPr>
          <p:cNvSpPr txBox="1"/>
          <p:nvPr/>
        </p:nvSpPr>
        <p:spPr>
          <a:xfrm>
            <a:off x="660400" y="355600"/>
            <a:ext cx="8026400" cy="558800"/>
          </a:xfrm>
          <a:prstGeom prst="rect">
            <a:avLst/>
          </a:prstGeom>
          <a:noFill/>
        </p:spPr>
        <p:txBody>
          <a:bodyPr vertOverflow="overflow" vert="horz" wrap="square" rtlCol="0" anchor="t" anchorCtr="0">
            <a:spAutoFit/>
          </a:bodyPr>
          <a:lstStyle/>
          <a:p>
            <a:pPr algn="l"/>
            <a:r>
              <a:rPr lang="pt-BR" sz="2400" b="1">
                <a:solidFill>
                  <a:srgbClr val="212121"/>
                </a:solidFill>
              </a:rPr>
              <a:t>Resumo</a:t>
            </a:r>
          </a:p>
        </p:txBody>
      </p:sp>
      <p:sp>
        <p:nvSpPr>
          <p:cNvPr id="4" name="CaixaDeTexto 3">
            <a:extLst>
              <a:ext uri="{FF2B5EF4-FFF2-40B4-BE49-F238E27FC236}">
                <a16:creationId xmlns:a16="http://schemas.microsoft.com/office/drawing/2014/main" id="{6B5A3715-3E16-4F93-8030-8DBFAB4D07E3}"/>
              </a:ext>
            </a:extLst>
          </p:cNvPr>
          <p:cNvSpPr txBox="1"/>
          <p:nvPr/>
        </p:nvSpPr>
        <p:spPr>
          <a:xfrm>
            <a:off x="558800" y="1270000"/>
            <a:ext cx="203200" cy="330200"/>
          </a:xfrm>
          <a:prstGeom prst="rect">
            <a:avLst/>
          </a:prstGeom>
          <a:noFill/>
        </p:spPr>
        <p:txBody>
          <a:bodyPr vertOverflow="overflow" vert="horz" wrap="square" rtlCol="0" anchor="t">
            <a:spAutoFit/>
          </a:bodyPr>
          <a:lstStyle/>
          <a:p>
            <a:pPr algn="l"/>
            <a:r>
              <a:rPr lang="pt-BR" sz="1600" b="1">
                <a:solidFill>
                  <a:srgbClr val="4285F4"/>
                </a:solidFill>
              </a:rPr>
              <a:t>•</a:t>
            </a:r>
          </a:p>
        </p:txBody>
      </p:sp>
      <p:sp>
        <p:nvSpPr>
          <p:cNvPr id="5" name="CaixaDeTexto 4">
            <a:extLst>
              <a:ext uri="{FF2B5EF4-FFF2-40B4-BE49-F238E27FC236}">
                <a16:creationId xmlns:a16="http://schemas.microsoft.com/office/drawing/2014/main" id="{D00ED6B6-5A55-4A55-8A9C-90DC2C69535C}"/>
              </a:ext>
            </a:extLst>
          </p:cNvPr>
          <p:cNvSpPr txBox="1"/>
          <p:nvPr/>
        </p:nvSpPr>
        <p:spPr>
          <a:xfrm>
            <a:off x="812800" y="1270000"/>
            <a:ext cx="7670800" cy="558800"/>
          </a:xfrm>
          <a:prstGeom prst="rect">
            <a:avLst/>
          </a:prstGeom>
          <a:noFill/>
        </p:spPr>
        <p:txBody>
          <a:bodyPr vertOverflow="overflow" vert="horz" wrap="square" rtlCol="0" anchor="t" anchorCtr="0">
            <a:spAutoFit/>
          </a:bodyPr>
          <a:lstStyle/>
          <a:p>
            <a:pPr algn="l"/>
            <a:r>
              <a:rPr lang="pt-BR" sz="1600">
                <a:solidFill>
                  <a:srgbClr val="37474F"/>
                </a:solidFill>
              </a:rPr>
              <a:t>Valida respeitando o tempo: treina no passado, testa no futuro.</a:t>
            </a:r>
          </a:p>
        </p:txBody>
      </p:sp>
      <p:sp>
        <p:nvSpPr>
          <p:cNvPr id="6" name="CaixaDeTexto 5">
            <a:extLst>
              <a:ext uri="{FF2B5EF4-FFF2-40B4-BE49-F238E27FC236}">
                <a16:creationId xmlns:a16="http://schemas.microsoft.com/office/drawing/2014/main" id="{1BB786CD-F58B-406D-BFE9-90E5FC8DF4CD}"/>
              </a:ext>
            </a:extLst>
          </p:cNvPr>
          <p:cNvSpPr txBox="1"/>
          <p:nvPr/>
        </p:nvSpPr>
        <p:spPr>
          <a:xfrm>
            <a:off x="558800" y="1778000"/>
            <a:ext cx="203200" cy="330200"/>
          </a:xfrm>
          <a:prstGeom prst="rect">
            <a:avLst/>
          </a:prstGeom>
          <a:noFill/>
        </p:spPr>
        <p:txBody>
          <a:bodyPr vertOverflow="overflow" vert="horz" wrap="square" rtlCol="0" anchor="t">
            <a:spAutoFit/>
          </a:bodyPr>
          <a:lstStyle/>
          <a:p>
            <a:pPr algn="l"/>
            <a:r>
              <a:rPr lang="pt-BR" sz="1600" b="1">
                <a:solidFill>
                  <a:srgbClr val="4285F4"/>
                </a:solidFill>
              </a:rPr>
              <a:t>•</a:t>
            </a:r>
          </a:p>
        </p:txBody>
      </p:sp>
      <p:sp>
        <p:nvSpPr>
          <p:cNvPr id="7" name="CaixaDeTexto 6">
            <a:extLst>
              <a:ext uri="{FF2B5EF4-FFF2-40B4-BE49-F238E27FC236}">
                <a16:creationId xmlns:a16="http://schemas.microsoft.com/office/drawing/2014/main" id="{1CE3CC02-2F78-45B0-A960-2362423EF1FF}"/>
              </a:ext>
            </a:extLst>
          </p:cNvPr>
          <p:cNvSpPr txBox="1"/>
          <p:nvPr/>
        </p:nvSpPr>
        <p:spPr>
          <a:xfrm>
            <a:off x="812800" y="1778000"/>
            <a:ext cx="7670800" cy="558800"/>
          </a:xfrm>
          <a:prstGeom prst="rect">
            <a:avLst/>
          </a:prstGeom>
          <a:noFill/>
        </p:spPr>
        <p:txBody>
          <a:bodyPr vertOverflow="overflow" vert="horz" wrap="square" rtlCol="0" anchor="t" anchorCtr="0">
            <a:spAutoFit/>
          </a:bodyPr>
          <a:lstStyle/>
          <a:p>
            <a:pPr algn="l"/>
            <a:r>
              <a:rPr lang="pt-BR" sz="1600">
                <a:solidFill>
                  <a:srgbClr val="37474F"/>
                </a:solidFill>
              </a:rPr>
              <a:t>Gera n_splits pares treino/teste; o treino cresce (ou desliza com max_train_size).</a:t>
            </a:r>
          </a:p>
        </p:txBody>
      </p:sp>
      <p:sp>
        <p:nvSpPr>
          <p:cNvPr id="8" name="CaixaDeTexto 7">
            <a:extLst>
              <a:ext uri="{FF2B5EF4-FFF2-40B4-BE49-F238E27FC236}">
                <a16:creationId xmlns:a16="http://schemas.microsoft.com/office/drawing/2014/main" id="{F825B4D5-35E5-41C3-9A98-23BE1CA93954}"/>
              </a:ext>
            </a:extLst>
          </p:cNvPr>
          <p:cNvSpPr txBox="1"/>
          <p:nvPr/>
        </p:nvSpPr>
        <p:spPr>
          <a:xfrm>
            <a:off x="558800" y="2463800"/>
            <a:ext cx="203200" cy="330200"/>
          </a:xfrm>
          <a:prstGeom prst="rect">
            <a:avLst/>
          </a:prstGeom>
          <a:noFill/>
        </p:spPr>
        <p:txBody>
          <a:bodyPr vertOverflow="overflow" vert="horz" wrap="square" rtlCol="0" anchor="t">
            <a:spAutoFit/>
          </a:bodyPr>
          <a:lstStyle/>
          <a:p>
            <a:pPr algn="l"/>
            <a:r>
              <a:rPr lang="pt-BR" sz="1600" b="1">
                <a:solidFill>
                  <a:srgbClr val="4285F4"/>
                </a:solidFill>
              </a:rPr>
              <a:t>•</a:t>
            </a:r>
          </a:p>
        </p:txBody>
      </p:sp>
      <p:sp>
        <p:nvSpPr>
          <p:cNvPr id="9" name="CaixaDeTexto 8">
            <a:extLst>
              <a:ext uri="{FF2B5EF4-FFF2-40B4-BE49-F238E27FC236}">
                <a16:creationId xmlns:a16="http://schemas.microsoft.com/office/drawing/2014/main" id="{415996F5-9B25-4F59-BA18-C748FEC09643}"/>
              </a:ext>
            </a:extLst>
          </p:cNvPr>
          <p:cNvSpPr txBox="1"/>
          <p:nvPr/>
        </p:nvSpPr>
        <p:spPr>
          <a:xfrm>
            <a:off x="812800" y="2463800"/>
            <a:ext cx="7670800" cy="558800"/>
          </a:xfrm>
          <a:prstGeom prst="rect">
            <a:avLst/>
          </a:prstGeom>
          <a:noFill/>
        </p:spPr>
        <p:txBody>
          <a:bodyPr vertOverflow="overflow" vert="horz" wrap="square" rtlCol="0" anchor="t" anchorCtr="0">
            <a:spAutoFit/>
          </a:bodyPr>
          <a:lstStyle/>
          <a:p>
            <a:pPr algn="l"/>
            <a:r>
              <a:rPr lang="pt-BR" sz="1600">
                <a:solidFill>
                  <a:srgbClr val="37474F"/>
                </a:solidFill>
              </a:rPr>
              <a:t>test_size fixa o horizonte de avaliação; gap evita vazamento entre treino e teste.</a:t>
            </a:r>
          </a:p>
        </p:txBody>
      </p:sp>
      <p:sp>
        <p:nvSpPr>
          <p:cNvPr id="10" name="CaixaDeTexto 9">
            <a:extLst>
              <a:ext uri="{FF2B5EF4-FFF2-40B4-BE49-F238E27FC236}">
                <a16:creationId xmlns:a16="http://schemas.microsoft.com/office/drawing/2014/main" id="{E1FEE75E-56FB-4003-9556-186CB10D12CC}"/>
              </a:ext>
            </a:extLst>
          </p:cNvPr>
          <p:cNvSpPr txBox="1"/>
          <p:nvPr/>
        </p:nvSpPr>
        <p:spPr>
          <a:xfrm>
            <a:off x="558800" y="3149600"/>
            <a:ext cx="203200" cy="330200"/>
          </a:xfrm>
          <a:prstGeom prst="rect">
            <a:avLst/>
          </a:prstGeom>
          <a:noFill/>
        </p:spPr>
        <p:txBody>
          <a:bodyPr vertOverflow="overflow" vert="horz" wrap="square" rtlCol="0" anchor="t">
            <a:spAutoFit/>
          </a:bodyPr>
          <a:lstStyle/>
          <a:p>
            <a:pPr algn="l"/>
            <a:r>
              <a:rPr lang="pt-BR" sz="1600" b="1">
                <a:solidFill>
                  <a:srgbClr val="4285F4"/>
                </a:solidFill>
              </a:rPr>
              <a:t>•</a:t>
            </a:r>
          </a:p>
        </p:txBody>
      </p:sp>
      <p:sp>
        <p:nvSpPr>
          <p:cNvPr id="11" name="CaixaDeTexto 10">
            <a:extLst>
              <a:ext uri="{FF2B5EF4-FFF2-40B4-BE49-F238E27FC236}">
                <a16:creationId xmlns:a16="http://schemas.microsoft.com/office/drawing/2014/main" id="{8BF9FDF9-97A6-4587-A69E-386077276D45}"/>
              </a:ext>
            </a:extLst>
          </p:cNvPr>
          <p:cNvSpPr txBox="1"/>
          <p:nvPr/>
        </p:nvSpPr>
        <p:spPr>
          <a:xfrm>
            <a:off x="812800" y="3149600"/>
            <a:ext cx="7670800" cy="558800"/>
          </a:xfrm>
          <a:prstGeom prst="rect">
            <a:avLst/>
          </a:prstGeom>
          <a:noFill/>
        </p:spPr>
        <p:txBody>
          <a:bodyPr vertOverflow="overflow" vert="horz" wrap="square" rtlCol="0" anchor="t" anchorCtr="0">
            <a:spAutoFit/>
          </a:bodyPr>
          <a:lstStyle/>
          <a:p>
            <a:pPr algn="l"/>
            <a:r>
              <a:rPr lang="pt-BR" sz="1600">
                <a:solidFill>
                  <a:srgbClr val="37474F"/>
                </a:solidFill>
              </a:rPr>
              <a:t>Plugue em qualquer utilitário do sklearn com cv=tscv (Pipeline, cross_val_score, GridSearchCV).</a:t>
            </a:r>
          </a:p>
        </p:txBody>
      </p:sp>
      <p:sp>
        <p:nvSpPr>
          <p:cNvPr id="12" name="Retângulo: Cantos Arredondados 11">
            <a:extLst>
              <a:ext uri="{FF2B5EF4-FFF2-40B4-BE49-F238E27FC236}">
                <a16:creationId xmlns:a16="http://schemas.microsoft.com/office/drawing/2014/main" id="{47863FA7-3ACE-4530-8890-C8FA398CF5F5}"/>
              </a:ext>
            </a:extLst>
          </p:cNvPr>
          <p:cNvSpPr/>
          <p:nvPr/>
        </p:nvSpPr>
        <p:spPr>
          <a:xfrm>
            <a:off x="558800" y="3962400"/>
            <a:ext cx="8026400" cy="711200"/>
          </a:xfrm>
          <a:prstGeom prst="roundRect">
            <a:avLst/>
          </a:prstGeom>
          <a:solidFill>
            <a:srgbClr val="212121"/>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pt-BR" sz="1300">
                <a:solidFill>
                  <a:srgbClr val="EAF2FF"/>
                </a:solidFill>
                <a:latin typeface="Consolas"/>
              </a:rPr>
              <a:t>tscv = TimeSeriesSplit(n_splits=5, test_size=30, gap=0)
cross_val_score(pipeline, X, y, cv=tscv)</a:t>
            </a:r>
          </a:p>
        </p:txBody>
      </p:sp>
    </p:spTree>
    <p:extLst>
      <p:ext uri="{BB962C8B-B14F-4D97-AF65-F5344CB8AC3E}">
        <p14:creationId xmlns:p14="http://schemas.microsoft.com/office/powerpoint/2010/main" val="13741103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45"/>
          <p:cNvPicPr preferRelativeResize="0"/>
          <p:nvPr/>
        </p:nvPicPr>
        <p:blipFill>
          <a:blip r:embed="rId3">
            <a:alphaModFix/>
          </a:blip>
          <a:stretch>
            <a:fillRect/>
          </a:stretch>
        </p:blipFill>
        <p:spPr>
          <a:xfrm>
            <a:off x="152400" y="152400"/>
            <a:ext cx="8839202" cy="423205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pic>
        <p:nvPicPr>
          <p:cNvPr id="231" name="Google Shape;231;p46"/>
          <p:cNvPicPr preferRelativeResize="0"/>
          <p:nvPr/>
        </p:nvPicPr>
        <p:blipFill>
          <a:blip r:embed="rId3">
            <a:alphaModFix/>
          </a:blip>
          <a:stretch>
            <a:fillRect/>
          </a:stretch>
        </p:blipFill>
        <p:spPr>
          <a:xfrm>
            <a:off x="152400" y="662913"/>
            <a:ext cx="8839200" cy="381767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47"/>
          <p:cNvPicPr preferRelativeResize="0"/>
          <p:nvPr/>
        </p:nvPicPr>
        <p:blipFill>
          <a:blip r:embed="rId3">
            <a:alphaModFix/>
          </a:blip>
          <a:stretch>
            <a:fillRect/>
          </a:stretch>
        </p:blipFill>
        <p:spPr>
          <a:xfrm>
            <a:off x="738188" y="547688"/>
            <a:ext cx="7667625" cy="40481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pic>
        <p:nvPicPr>
          <p:cNvPr id="241" name="Google Shape;241;p48"/>
          <p:cNvPicPr preferRelativeResize="0"/>
          <p:nvPr/>
        </p:nvPicPr>
        <p:blipFill>
          <a:blip r:embed="rId3">
            <a:alphaModFix/>
          </a:blip>
          <a:stretch>
            <a:fillRect/>
          </a:stretch>
        </p:blipFill>
        <p:spPr>
          <a:xfrm>
            <a:off x="1423988" y="819150"/>
            <a:ext cx="6296025" cy="3505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p49"/>
          <p:cNvPicPr preferRelativeResize="0"/>
          <p:nvPr/>
        </p:nvPicPr>
        <p:blipFill>
          <a:blip r:embed="rId3">
            <a:alphaModFix/>
          </a:blip>
          <a:stretch>
            <a:fillRect/>
          </a:stretch>
        </p:blipFill>
        <p:spPr>
          <a:xfrm>
            <a:off x="152400" y="858675"/>
            <a:ext cx="8839201" cy="335086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p50"/>
          <p:cNvPicPr preferRelativeResize="0"/>
          <p:nvPr/>
        </p:nvPicPr>
        <p:blipFill>
          <a:blip r:embed="rId3">
            <a:alphaModFix/>
          </a:blip>
          <a:stretch>
            <a:fillRect/>
          </a:stretch>
        </p:blipFill>
        <p:spPr>
          <a:xfrm>
            <a:off x="804863" y="1214438"/>
            <a:ext cx="7534275" cy="27146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Google Shape;256;p51"/>
          <p:cNvPicPr preferRelativeResize="0"/>
          <p:nvPr/>
        </p:nvPicPr>
        <p:blipFill>
          <a:blip r:embed="rId3">
            <a:alphaModFix/>
          </a:blip>
          <a:stretch>
            <a:fillRect/>
          </a:stretch>
        </p:blipFill>
        <p:spPr>
          <a:xfrm>
            <a:off x="738188" y="852488"/>
            <a:ext cx="7667625" cy="34385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pic>
        <p:nvPicPr>
          <p:cNvPr id="261" name="Google Shape;261;p52"/>
          <p:cNvPicPr preferRelativeResize="0"/>
          <p:nvPr/>
        </p:nvPicPr>
        <p:blipFill>
          <a:blip r:embed="rId3">
            <a:alphaModFix/>
          </a:blip>
          <a:stretch>
            <a:fillRect/>
          </a:stretch>
        </p:blipFill>
        <p:spPr>
          <a:xfrm>
            <a:off x="1541813" y="243375"/>
            <a:ext cx="6060375" cy="3775175"/>
          </a:xfrm>
          <a:prstGeom prst="rect">
            <a:avLst/>
          </a:prstGeom>
          <a:noFill/>
          <a:ln>
            <a:noFill/>
          </a:ln>
        </p:spPr>
      </p:pic>
      <p:pic>
        <p:nvPicPr>
          <p:cNvPr id="262" name="Google Shape;262;p52"/>
          <p:cNvPicPr preferRelativeResize="0"/>
          <p:nvPr/>
        </p:nvPicPr>
        <p:blipFill>
          <a:blip r:embed="rId4">
            <a:alphaModFix/>
          </a:blip>
          <a:stretch>
            <a:fillRect/>
          </a:stretch>
        </p:blipFill>
        <p:spPr>
          <a:xfrm>
            <a:off x="1638938" y="4079975"/>
            <a:ext cx="5866133" cy="9879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pic>
        <p:nvPicPr>
          <p:cNvPr id="267" name="Google Shape;267;p53"/>
          <p:cNvPicPr preferRelativeResize="0"/>
          <p:nvPr/>
        </p:nvPicPr>
        <p:blipFill>
          <a:blip r:embed="rId3">
            <a:alphaModFix/>
          </a:blip>
          <a:stretch>
            <a:fillRect/>
          </a:stretch>
        </p:blipFill>
        <p:spPr>
          <a:xfrm>
            <a:off x="828675" y="998850"/>
            <a:ext cx="7486650" cy="33147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Google Shape;272;p54"/>
          <p:cNvPicPr preferRelativeResize="0"/>
          <p:nvPr/>
        </p:nvPicPr>
        <p:blipFill>
          <a:blip r:embed="rId3">
            <a:alphaModFix/>
          </a:blip>
          <a:stretch>
            <a:fillRect/>
          </a:stretch>
        </p:blipFill>
        <p:spPr>
          <a:xfrm>
            <a:off x="2347913" y="942975"/>
            <a:ext cx="4448175" cy="32575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55"/>
          <p:cNvPicPr preferRelativeResize="0"/>
          <p:nvPr/>
        </p:nvPicPr>
        <p:blipFill>
          <a:blip r:embed="rId3">
            <a:alphaModFix/>
          </a:blip>
          <a:stretch>
            <a:fillRect/>
          </a:stretch>
        </p:blipFill>
        <p:spPr>
          <a:xfrm>
            <a:off x="971550" y="1195388"/>
            <a:ext cx="7200900" cy="27527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pic>
        <p:nvPicPr>
          <p:cNvPr id="282" name="Google Shape;282;p56"/>
          <p:cNvPicPr preferRelativeResize="0"/>
          <p:nvPr/>
        </p:nvPicPr>
        <p:blipFill>
          <a:blip r:embed="rId3">
            <a:alphaModFix/>
          </a:blip>
          <a:stretch>
            <a:fillRect/>
          </a:stretch>
        </p:blipFill>
        <p:spPr>
          <a:xfrm>
            <a:off x="1843088" y="366713"/>
            <a:ext cx="5457825" cy="44100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C9B621E-A11A-4D2C-B9E5-4C66BDE82C5C}">
  <we:reference id="wa200010001" version="1.0.0.1" store="en-US" storeType="OMEX"/>
  <we:alternateReferences>
    <we:reference id="wa200010001" version="1.0.0.1" store="en-US" storeType="OMEX"/>
  </we:alternateReferences>
  <we:properties>
    <we:property name="claude.fileId" value="&quot;9da06634-8001-4796-bb65-8aae22397ac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2107</Words>
  <Application>Microsoft Office PowerPoint</Application>
  <PresentationFormat>Apresentação na tela (16:9)</PresentationFormat>
  <Paragraphs>122</Paragraphs>
  <Slides>48</Slides>
  <Notes>35</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48</vt:i4>
      </vt:variant>
    </vt:vector>
  </HeadingPairs>
  <TitlesOfParts>
    <vt:vector size="52" baseType="lpstr">
      <vt:lpstr>Roboto Mono</vt:lpstr>
      <vt:lpstr>Consolas</vt:lpstr>
      <vt:lpstr>Arial</vt:lpstr>
      <vt:lpstr>Simple Light</vt:lpstr>
      <vt:lpstr>REDES NEURAIS</vt:lpstr>
      <vt:lpstr>Regressão e Regularização</vt:lpstr>
      <vt:lpstr>Apresentação do PowerPoint</vt:lpstr>
      <vt:lpstr>Apresentação do PowerPoint</vt:lpstr>
      <vt:lpstr>Apresentação do PowerPoint</vt:lpstr>
      <vt:lpstr>Apresentação do PowerPoint</vt:lpstr>
      <vt:lpstr>Apresentação do PowerPoint</vt:lpstr>
      <vt:lpstr>Apresentação do PowerPoint</vt:lpstr>
      <vt:lpstr>Exemplo do uso de Redes Neurais em problemas de Regressão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TIME SERIES SPLIT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Alexandre Carvalho</cp:lastModifiedBy>
  <cp:revision>1</cp:revision>
  <dcterms:modified xsi:type="dcterms:W3CDTF">2026-09-07T20:28:15Z</dcterms:modified>
</cp:coreProperties>
</file>